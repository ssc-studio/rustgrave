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9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FDB772-5E88-4690-B3DD-8F82002D7DD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66712-BAE3-49F1-90BA-366B51FF3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67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区域、980余亩、三镇与30户均来自用户原PPT第11、13页，未独立审计。未查得可靠的全县樱桃面积统计，故不将项目面积替代全县面积。营养描述仅为樱桃一般特征，不宣称太和产品具有更高含量或治疗效果。市场部分为拟服务场景，不使用参考图中未核实的市场规模、占比和预测值。政策来源见配套说明。</a:t>
            </a:r>
          </a:p>
        </p:txBody>
      </p:sp>
    </p:spTree>
    <p:extLst>
      <p:ext uri="{BB962C8B-B14F-4D97-AF65-F5344CB8AC3E}">
        <p14:creationId xmlns:p14="http://schemas.microsoft.com/office/powerpoint/2010/main" val="3660215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9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情景测算，非已核实的帮扶成效。原稿3万元与9.4万元仅作为基准和目标。按相同种植面积、顺序替代法分解销售收入，先增产，再减损，最后提价，交互收益归入后一步，避免重复。假设损耗是顺序发生且同一收入期适用。原稿第8页提供采后25%至11%、流通31%至12.7%、均价18至25.2元/斤，但其同户同年可比性未经核实。反推采收量约3220.61斤至4800.90斤，增产49.06%，该增产率是匹配目标的假设，不是实测。详见说明与计算表。未扣除种植、人工、包装、冷链、佣金成本，不含务工、种粮收入。</a:t>
            </a:r>
          </a:p>
        </p:txBody>
      </p:sp>
    </p:spTree>
    <p:extLst>
      <p:ext uri="{BB962C8B-B14F-4D97-AF65-F5344CB8AC3E}">
        <p14:creationId xmlns:p14="http://schemas.microsoft.com/office/powerpoint/2010/main" val="67854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8210F-973C-A1DA-2EDE-D84ACD1D4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ABE124-8C25-CD66-B2EB-41FC7D3D4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4C368-D716-4946-EC0D-FC07120F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81A9F-DBF4-5C4D-8000-A22E87F1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7D5558-FA4F-FC08-DEB5-29801519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57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BBA6C-7536-8911-EF6F-225B5869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5F248C-140B-0109-4336-F84545F0E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5DDD5-ED76-3940-3F75-54B633F3F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4830D0-291B-1057-45DF-8BE6E860C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ACDD2C-E6AF-99B1-056E-A1035A6C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0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81E56-5672-D582-588B-6300A22C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A8E46E-11C0-BD08-030A-392EC4B42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227BBB-FC47-C8D1-E349-126019AB5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9F1E2-7DD3-0866-77E0-05991BDA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B39A2B-0C02-395F-1000-2B7CD8A5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4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CFDE-92F4-AEF0-AF8E-DE7C787F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74459-69F8-67E3-5B26-D5AE60D72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220206-E7E5-ABF8-FCE7-931451048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7DF89-3544-535E-12C9-811912058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4EE90-1F88-97B2-2A19-FF6E387C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18E70E-B501-899C-7CF6-DDC9C0D2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0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174C2-379D-8E78-4C5C-BF5715682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2CFBE3-6D75-F043-5F39-5873FBAD8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DBED40-F897-BD04-C973-3F60454A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946AC6-B6E7-D259-BC83-A0979FF79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B55E18-A599-2F7F-4A75-6442E9521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59852-A630-48A1-B8E7-6EB06246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011B4F-F0C2-F5C3-F856-278299DC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E3E23E-B662-8012-6F12-0E32BBF3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20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40434-3495-4CFA-F840-4B76DE80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C0A488-A294-FB93-3DF1-6D18DABA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4AFF27-AB85-EF58-D9D1-283A1E7B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1732B2-5162-134E-3017-E9CBFB6E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0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438BD6-7000-6A21-1A5D-F6126220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51308E-3031-5559-B389-658C2D6A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C4A1A-471A-0B3C-9667-EAB6242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8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CE4AA-8A22-83C7-21EE-C76F1A7E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3B0208-20C3-1B5E-3EB4-FE2B71FE7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2F55DE-A36E-3A1B-3BCA-EF09861AC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BD7C28-8426-FC66-A6B9-DAE08EDD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6A9E9A-1F96-7DDF-E028-B6162F23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E8DE23-EB51-726E-A5A8-B3E74728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F46B1-117A-23F8-8D73-C16BB3AEC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95F0B5-9862-2444-CF37-3CA79282C6E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53021D-8B27-DE65-F40F-480553A67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D9E86E-59B2-5F3E-52C7-5204C34B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8FA7EE-A9DC-FF65-D162-6671A6BA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08D5EC-C76D-029B-35F0-A7507E62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9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1D6DE-A507-B5E0-4512-E6FF94A2E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E0DC18-9FC8-3D8B-D4A3-0ADE4C7FA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2DBF12-5E26-6AFB-6645-FBC72700E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5F143E-FED6-BF8C-34BC-FA71DC49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3FEAD-505A-88A4-6D6D-3D5709AA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6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6BA988-96BE-7E3A-031E-8A89FA1C9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C9F6BE-AC3D-452D-8A56-FD0C44103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55A28A-F372-EA59-1A50-587238C6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4C5DAD-A443-0C0E-A502-3208A03D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63CD7-5524-347C-FA83-28E6A008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0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797FD7-96D1-AC6C-E609-40F6BCC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EC8BBC-2AD3-E07C-0C71-FB7FA9197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BD7814-75AC-3102-4E34-B01B0CBE8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E9838-C8C6-4665-9CF6-7FF53273363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722845-DD88-31CD-E072-17604F941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D5F95-5532-753B-BA85-5C9DE11E9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63FE60-2F32-4676-8BC8-77FB85893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9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image" Target="../media/image6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5" Type="http://schemas.openxmlformats.org/officeDocument/2006/relationships/image" Target="../media/image5.jpeg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34.xml"/><Relationship Id="rId21" Type="http://schemas.openxmlformats.org/officeDocument/2006/relationships/tags" Target="../tags/tag29.xml"/><Relationship Id="rId42" Type="http://schemas.openxmlformats.org/officeDocument/2006/relationships/tags" Target="../tags/tag50.xml"/><Relationship Id="rId47" Type="http://schemas.openxmlformats.org/officeDocument/2006/relationships/tags" Target="../tags/tag55.xml"/><Relationship Id="rId63" Type="http://schemas.openxmlformats.org/officeDocument/2006/relationships/slideLayout" Target="../slideLayouts/slideLayout7.xml"/><Relationship Id="rId68" Type="http://schemas.openxmlformats.org/officeDocument/2006/relationships/image" Target="../media/image8.png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9" Type="http://schemas.openxmlformats.org/officeDocument/2006/relationships/tags" Target="../tags/tag37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tags" Target="../tags/tag40.xml"/><Relationship Id="rId37" Type="http://schemas.openxmlformats.org/officeDocument/2006/relationships/tags" Target="../tags/tag45.xml"/><Relationship Id="rId40" Type="http://schemas.openxmlformats.org/officeDocument/2006/relationships/tags" Target="../tags/tag48.xml"/><Relationship Id="rId45" Type="http://schemas.openxmlformats.org/officeDocument/2006/relationships/tags" Target="../tags/tag53.xml"/><Relationship Id="rId53" Type="http://schemas.openxmlformats.org/officeDocument/2006/relationships/tags" Target="../tags/tag61.xml"/><Relationship Id="rId58" Type="http://schemas.openxmlformats.org/officeDocument/2006/relationships/tags" Target="../tags/tag66.xml"/><Relationship Id="rId66" Type="http://schemas.openxmlformats.org/officeDocument/2006/relationships/image" Target="../media/image1.png"/><Relationship Id="rId5" Type="http://schemas.openxmlformats.org/officeDocument/2006/relationships/tags" Target="../tags/tag13.xml"/><Relationship Id="rId61" Type="http://schemas.openxmlformats.org/officeDocument/2006/relationships/tags" Target="../tags/tag69.xml"/><Relationship Id="rId19" Type="http://schemas.openxmlformats.org/officeDocument/2006/relationships/tags" Target="../tags/tag2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35" Type="http://schemas.openxmlformats.org/officeDocument/2006/relationships/tags" Target="../tags/tag43.xml"/><Relationship Id="rId43" Type="http://schemas.openxmlformats.org/officeDocument/2006/relationships/tags" Target="../tags/tag51.xml"/><Relationship Id="rId48" Type="http://schemas.openxmlformats.org/officeDocument/2006/relationships/tags" Target="../tags/tag56.xml"/><Relationship Id="rId56" Type="http://schemas.openxmlformats.org/officeDocument/2006/relationships/tags" Target="../tags/tag64.xml"/><Relationship Id="rId64" Type="http://schemas.openxmlformats.org/officeDocument/2006/relationships/notesSlide" Target="../notesSlides/notesSlide2.xml"/><Relationship Id="rId69" Type="http://schemas.openxmlformats.org/officeDocument/2006/relationships/image" Target="../media/image9.png"/><Relationship Id="rId8" Type="http://schemas.openxmlformats.org/officeDocument/2006/relationships/tags" Target="../tags/tag16.xml"/><Relationship Id="rId51" Type="http://schemas.openxmlformats.org/officeDocument/2006/relationships/tags" Target="../tags/tag59.xml"/><Relationship Id="rId3" Type="http://schemas.openxmlformats.org/officeDocument/2006/relationships/tags" Target="../tags/tag11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tags" Target="../tags/tag41.xml"/><Relationship Id="rId38" Type="http://schemas.openxmlformats.org/officeDocument/2006/relationships/tags" Target="../tags/tag46.xml"/><Relationship Id="rId46" Type="http://schemas.openxmlformats.org/officeDocument/2006/relationships/tags" Target="../tags/tag54.xml"/><Relationship Id="rId59" Type="http://schemas.openxmlformats.org/officeDocument/2006/relationships/tags" Target="../tags/tag67.xml"/><Relationship Id="rId67" Type="http://schemas.openxmlformats.org/officeDocument/2006/relationships/image" Target="../media/image2.png"/><Relationship Id="rId20" Type="http://schemas.openxmlformats.org/officeDocument/2006/relationships/tags" Target="../tags/tag28.xml"/><Relationship Id="rId41" Type="http://schemas.openxmlformats.org/officeDocument/2006/relationships/tags" Target="../tags/tag49.xml"/><Relationship Id="rId54" Type="http://schemas.openxmlformats.org/officeDocument/2006/relationships/tags" Target="../tags/tag62.xml"/><Relationship Id="rId62" Type="http://schemas.openxmlformats.org/officeDocument/2006/relationships/tags" Target="../tags/tag70.xml"/><Relationship Id="rId70" Type="http://schemas.openxmlformats.org/officeDocument/2006/relationships/image" Target="../media/image10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36" Type="http://schemas.openxmlformats.org/officeDocument/2006/relationships/tags" Target="../tags/tag44.xml"/><Relationship Id="rId49" Type="http://schemas.openxmlformats.org/officeDocument/2006/relationships/tags" Target="../tags/tag57.xml"/><Relationship Id="rId57" Type="http://schemas.openxmlformats.org/officeDocument/2006/relationships/tags" Target="../tags/tag65.xml"/><Relationship Id="rId10" Type="http://schemas.openxmlformats.org/officeDocument/2006/relationships/tags" Target="../tags/tag18.xml"/><Relationship Id="rId31" Type="http://schemas.openxmlformats.org/officeDocument/2006/relationships/tags" Target="../tags/tag39.xml"/><Relationship Id="rId44" Type="http://schemas.openxmlformats.org/officeDocument/2006/relationships/tags" Target="../tags/tag52.xml"/><Relationship Id="rId52" Type="http://schemas.openxmlformats.org/officeDocument/2006/relationships/tags" Target="../tags/tag60.xml"/><Relationship Id="rId60" Type="http://schemas.openxmlformats.org/officeDocument/2006/relationships/tags" Target="../tags/tag68.xml"/><Relationship Id="rId65" Type="http://schemas.openxmlformats.org/officeDocument/2006/relationships/image" Target="../media/image3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39" Type="http://schemas.openxmlformats.org/officeDocument/2006/relationships/tags" Target="../tags/tag47.xml"/><Relationship Id="rId34" Type="http://schemas.openxmlformats.org/officeDocument/2006/relationships/tags" Target="../tags/tag42.xml"/><Relationship Id="rId50" Type="http://schemas.openxmlformats.org/officeDocument/2006/relationships/tags" Target="../tags/tag58.xml"/><Relationship Id="rId55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-文本框 30++++"/>
          <p:cNvSpPr txBox="1"/>
          <p:nvPr>
            <p:custDataLst>
              <p:tags r:id="rId1"/>
            </p:custDataLst>
          </p:nvPr>
        </p:nvSpPr>
        <p:spPr>
          <a:xfrm>
            <a:off x="4303802" y="275933"/>
            <a:ext cx="5059680" cy="460375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kumimoji="0" sz="28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腹黑体" charset="-122"/>
              </a:rPr>
              <a:t>太和樱桃的产业基础与市场机遇</a:t>
            </a:r>
          </a:p>
        </p:txBody>
      </p:sp>
      <p:pic>
        <p:nvPicPr>
          <p:cNvPr id="2097313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592580" y="275590"/>
            <a:ext cx="449580" cy="448945"/>
          </a:xfrm>
          <a:prstGeom prst="rect">
            <a:avLst/>
          </a:prstGeom>
        </p:spPr>
      </p:pic>
      <p:grpSp>
        <p:nvGrpSpPr>
          <p:cNvPr id="111" name="组合 72"/>
          <p:cNvGrpSpPr/>
          <p:nvPr/>
        </p:nvGrpSpPr>
        <p:grpSpPr bwMode="auto">
          <a:xfrm>
            <a:off x="-153988" y="219075"/>
            <a:ext cx="4383088" cy="608017"/>
            <a:chOff x="713021" y="276855"/>
            <a:chExt cx="4383448" cy="608817"/>
          </a:xfrm>
        </p:grpSpPr>
        <p:sp>
          <p:nvSpPr>
            <p:cNvPr id="1048830" name="矩形 44"/>
            <p:cNvSpPr/>
            <p:nvPr>
              <p:custDataLst>
                <p:tags r:id="rId6"/>
              </p:custDataLst>
            </p:nvPr>
          </p:nvSpPr>
          <p:spPr>
            <a:xfrm>
              <a:off x="867022" y="276855"/>
              <a:ext cx="2438600" cy="581789"/>
            </a:xfrm>
            <a:prstGeom prst="rect">
              <a:avLst/>
            </a:prstGeom>
            <a:noFill/>
            <a:ln w="4445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800" b="1" kern="0" dirty="0">
                <a:solidFill>
                  <a:srgbClr val="FF0000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grpSp>
          <p:nvGrpSpPr>
            <p:cNvPr id="112" name="组合 46"/>
            <p:cNvGrpSpPr/>
            <p:nvPr/>
          </p:nvGrpSpPr>
          <p:grpSpPr>
            <a:xfrm>
              <a:off x="2994541" y="277158"/>
              <a:ext cx="2101928" cy="608514"/>
              <a:chOff x="1593039" y="294968"/>
              <a:chExt cx="1875328" cy="710176"/>
            </a:xfrm>
            <a:solidFill>
              <a:srgbClr val="FFC000">
                <a:lumMod val="60000"/>
                <a:lumOff val="40000"/>
              </a:srgbClr>
            </a:solidFill>
          </p:grpSpPr>
          <p:sp>
            <p:nvSpPr>
              <p:cNvPr id="1048831" name="矩形 47"/>
              <p:cNvSpPr/>
              <p:nvPr>
                <p:custDataLst>
                  <p:tags r:id="rId7"/>
                </p:custDataLst>
              </p:nvPr>
            </p:nvSpPr>
            <p:spPr>
              <a:xfrm>
                <a:off x="1593039" y="294968"/>
                <a:ext cx="1866249" cy="678426"/>
              </a:xfrm>
              <a:prstGeom prst="rect">
                <a:avLst/>
              </a:prstGeom>
              <a:solidFill>
                <a:srgbClr val="C00000"/>
              </a:solidFill>
              <a:ln w="444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b="1" kern="0" dirty="0">
                  <a:solidFill>
                    <a:prstClr val="white"/>
                  </a:solidFill>
                  <a:latin typeface="微软雅黑" panose="020B0503020204020204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48832" name="文本框 4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98620" y="361400"/>
                <a:ext cx="1861248" cy="56767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vert="horz" wrap="none" lIns="0" tIns="0" rIns="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26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产业背景</a:t>
                </a:r>
              </a:p>
            </p:txBody>
          </p:sp>
        </p:grpSp>
      </p:grpSp>
      <p:sp>
        <p:nvSpPr>
          <p:cNvPr id="1048833" name="文本框 72"/>
          <p:cNvSpPr txBox="1"/>
          <p:nvPr>
            <p:custDataLst>
              <p:tags r:id="rId3"/>
            </p:custDataLst>
          </p:nvPr>
        </p:nvSpPr>
        <p:spPr bwMode="auto">
          <a:xfrm>
            <a:off x="76200" y="276225"/>
            <a:ext cx="1466850" cy="48577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50" b="0" i="0">
                <a:solidFill>
                  <a:srgbClr val="BD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一樱俱全</a:t>
            </a:r>
            <a:endParaRPr lang="zh-CN" sz="2250"/>
          </a:p>
        </p:txBody>
      </p:sp>
      <p:pic>
        <p:nvPicPr>
          <p:cNvPr id="2097314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532111" y="415650"/>
            <a:ext cx="767401" cy="384097"/>
          </a:xfrm>
          <a:prstGeom prst="rect">
            <a:avLst/>
          </a:prstGeom>
        </p:spPr>
      </p:pic>
      <p:pic>
        <p:nvPicPr>
          <p:cNvPr id="2097312" name="图片 8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/>
          <a:srcRect/>
          <a:stretch>
            <a:fillRect/>
          </a:stretch>
        </p:blipFill>
        <p:spPr>
          <a:xfrm>
            <a:off x="9667734" y="18520"/>
            <a:ext cx="2650798" cy="750963"/>
          </a:xfrm>
          <a:prstGeom prst="rect">
            <a:avLst/>
          </a:prstGeom>
          <a:noFill/>
        </p:spPr>
      </p:pic>
      <p:sp>
        <p:nvSpPr>
          <p:cNvPr id="8001002" name="矩形 8001001">
            <a:extLst>
              <a:ext uri="{FF2B5EF4-FFF2-40B4-BE49-F238E27FC236}">
                <a16:creationId xmlns:a16="http://schemas.microsoft.com/office/drawing/2014/main" id="{4A4AE0C0-0399-41EE-8514-3E1D950C33C0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11696700" cy="5619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01003" name="矩形 8001002">
            <a:extLst>
              <a:ext uri="{FF2B5EF4-FFF2-40B4-BE49-F238E27FC236}">
                <a16:creationId xmlns:a16="http://schemas.microsoft.com/office/drawing/2014/main" id="{69456B07-01CE-4DFF-A0A7-C3C0E955DF17}"/>
              </a:ext>
            </a:extLst>
          </p:cNvPr>
          <p:cNvSpPr>
            <a:spLocks noGrp="1"/>
          </p:cNvSpPr>
          <p:nvPr/>
        </p:nvSpPr>
        <p:spPr>
          <a:xfrm>
            <a:off x="523875" y="1047750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550" b="1">
                <a:solidFill>
                  <a:srgbClr val="202020"/>
                </a:solidFill>
              </a:defRPr>
            </a:defPPr>
            <a:lvl1pPr algn="ctr">
              <a:defRPr sz="2550" b="1">
                <a:solidFill>
                  <a:srgbClr val="202020"/>
                </a:solidFill>
              </a:defRPr>
            </a:lvl1pPr>
            <a:lvl2pPr algn="ctr">
              <a:defRPr sz="2550" b="1">
                <a:solidFill>
                  <a:srgbClr val="202020"/>
                </a:solidFill>
              </a:defRPr>
            </a:lvl2pPr>
            <a:lvl3pPr algn="ctr">
              <a:defRPr sz="2550" b="1">
                <a:solidFill>
                  <a:srgbClr val="202020"/>
                </a:solidFill>
              </a:defRPr>
            </a:lvl3pPr>
            <a:lvl4pPr algn="ctr">
              <a:defRPr sz="2550" b="1">
                <a:solidFill>
                  <a:srgbClr val="202020"/>
                </a:solidFill>
              </a:defRPr>
            </a:lvl4pPr>
            <a:lvl5pPr algn="ctr">
              <a:defRPr sz="2550" b="1">
                <a:solidFill>
                  <a:srgbClr val="202020"/>
                </a:solidFill>
              </a:defRPr>
            </a:lvl5pPr>
            <a:lvl6pPr algn="ctr">
              <a:defRPr sz="2550" b="1">
                <a:solidFill>
                  <a:srgbClr val="202020"/>
                </a:solidFill>
              </a:defRPr>
            </a:lvl6pPr>
            <a:lvl7pPr algn="ctr">
              <a:defRPr sz="2550" b="1">
                <a:solidFill>
                  <a:srgbClr val="202020"/>
                </a:solidFill>
              </a:defRPr>
            </a:lvl7pPr>
            <a:lvl8pPr algn="ctr">
              <a:defRPr sz="2550" b="1">
                <a:solidFill>
                  <a:srgbClr val="202020"/>
                </a:solidFill>
              </a:defRPr>
            </a:lvl8pPr>
            <a:lvl9pPr algn="ctr">
              <a:defRPr sz="2550" b="1">
                <a:solidFill>
                  <a:srgbClr val="202020"/>
                </a:solidFill>
              </a:defRPr>
            </a:lvl9pPr>
          </a:lstStyle>
          <a:p>
            <a:pPr algn="ctr">
              <a:defRPr sz="2550" b="1">
                <a:solidFill>
                  <a:srgbClr val="202020"/>
                </a:solidFill>
              </a:defRPr>
            </a:pPr>
            <a:r>
              <a:rPr sz="2550" b="1">
                <a:solidFill>
                  <a:srgbClr val="202020"/>
                </a:solidFill>
              </a:rPr>
              <a:t>本地特色鲜果产业，需要绿色管护与采后服务</a:t>
            </a:r>
          </a:p>
        </p:txBody>
      </p:sp>
      <p:sp>
        <p:nvSpPr>
          <p:cNvPr id="8001004" name="矩形 8001003">
            <a:extLst>
              <a:ext uri="{FF2B5EF4-FFF2-40B4-BE49-F238E27FC236}">
                <a16:creationId xmlns:a16="http://schemas.microsoft.com/office/drawing/2014/main" id="{7B5BFA52-3AD0-4BFB-80EC-3418EC265C5F}"/>
              </a:ext>
            </a:extLst>
          </p:cNvPr>
          <p:cNvSpPr>
            <a:spLocks noGrp="1"/>
          </p:cNvSpPr>
          <p:nvPr/>
        </p:nvSpPr>
        <p:spPr>
          <a:xfrm>
            <a:off x="523875" y="1495425"/>
            <a:ext cx="11144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C00000"/>
                </a:solidFill>
              </a:defRPr>
            </a:defPPr>
            <a:lvl1pPr algn="ctr">
              <a:defRPr sz="2025" b="1">
                <a:solidFill>
                  <a:srgbClr val="C00000"/>
                </a:solidFill>
              </a:defRPr>
            </a:lvl1pPr>
            <a:lvl2pPr algn="ctr">
              <a:defRPr sz="2025" b="1">
                <a:solidFill>
                  <a:srgbClr val="C00000"/>
                </a:solidFill>
              </a:defRPr>
            </a:lvl2pPr>
            <a:lvl3pPr algn="ctr">
              <a:defRPr sz="2025" b="1">
                <a:solidFill>
                  <a:srgbClr val="C00000"/>
                </a:solidFill>
              </a:defRPr>
            </a:lvl3pPr>
            <a:lvl4pPr algn="ctr">
              <a:defRPr sz="2025" b="1">
                <a:solidFill>
                  <a:srgbClr val="C00000"/>
                </a:solidFill>
              </a:defRPr>
            </a:lvl4pPr>
            <a:lvl5pPr algn="ctr">
              <a:defRPr sz="2025" b="1">
                <a:solidFill>
                  <a:srgbClr val="C00000"/>
                </a:solidFill>
              </a:defRPr>
            </a:lvl5pPr>
            <a:lvl6pPr algn="ctr">
              <a:defRPr sz="2025" b="1">
                <a:solidFill>
                  <a:srgbClr val="C00000"/>
                </a:solidFill>
              </a:defRPr>
            </a:lvl6pPr>
            <a:lvl7pPr algn="ctr">
              <a:defRPr sz="2025" b="1">
                <a:solidFill>
                  <a:srgbClr val="C00000"/>
                </a:solidFill>
              </a:defRPr>
            </a:lvl7pPr>
            <a:lvl8pPr algn="ctr">
              <a:defRPr sz="2025" b="1">
                <a:solidFill>
                  <a:srgbClr val="C00000"/>
                </a:solidFill>
              </a:defRPr>
            </a:lvl8pPr>
            <a:lvl9pPr algn="ctr">
              <a:defRPr sz="2025" b="1">
                <a:solidFill>
                  <a:srgbClr val="C00000"/>
                </a:solidFill>
              </a:defRPr>
            </a:lvl9pPr>
          </a:lstStyle>
          <a:p>
            <a:pPr algn="ctr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立足本地种植基础，以鲜果品质连接采摘与电商市场</a:t>
            </a:r>
          </a:p>
        </p:txBody>
      </p:sp>
      <p:sp>
        <p:nvSpPr>
          <p:cNvPr id="8001005" name="矩形 8001004">
            <a:extLst>
              <a:ext uri="{FF2B5EF4-FFF2-40B4-BE49-F238E27FC236}">
                <a16:creationId xmlns:a16="http://schemas.microsoft.com/office/drawing/2014/main" id="{609616FF-3AF7-4E74-8D0B-6E87A7439E64}"/>
              </a:ext>
            </a:extLst>
          </p:cNvPr>
          <p:cNvSpPr>
            <a:spLocks noGrp="1"/>
          </p:cNvSpPr>
          <p:nvPr/>
        </p:nvSpPr>
        <p:spPr>
          <a:xfrm>
            <a:off x="485775" y="2038350"/>
            <a:ext cx="2647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01006" name="矩形 8001005">
            <a:extLst>
              <a:ext uri="{FF2B5EF4-FFF2-40B4-BE49-F238E27FC236}">
                <a16:creationId xmlns:a16="http://schemas.microsoft.com/office/drawing/2014/main" id="{23D20D3B-3948-4486-B256-5C2BE1396AB9}"/>
              </a:ext>
            </a:extLst>
          </p:cNvPr>
          <p:cNvSpPr>
            <a:spLocks noGrp="1"/>
          </p:cNvSpPr>
          <p:nvPr/>
        </p:nvSpPr>
        <p:spPr>
          <a:xfrm>
            <a:off x="600075" y="2124075"/>
            <a:ext cx="2419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C00000"/>
                </a:solidFill>
              </a:defRPr>
            </a:defPPr>
            <a:lvl1pPr algn="ctr">
              <a:defRPr sz="2025" b="1">
                <a:solidFill>
                  <a:srgbClr val="C00000"/>
                </a:solidFill>
              </a:defRPr>
            </a:lvl1pPr>
            <a:lvl2pPr algn="ctr">
              <a:defRPr sz="2025" b="1">
                <a:solidFill>
                  <a:srgbClr val="C00000"/>
                </a:solidFill>
              </a:defRPr>
            </a:lvl2pPr>
            <a:lvl3pPr algn="ctr">
              <a:defRPr sz="2025" b="1">
                <a:solidFill>
                  <a:srgbClr val="C00000"/>
                </a:solidFill>
              </a:defRPr>
            </a:lvl3pPr>
            <a:lvl4pPr algn="ctr">
              <a:defRPr sz="2025" b="1">
                <a:solidFill>
                  <a:srgbClr val="C00000"/>
                </a:solidFill>
              </a:defRPr>
            </a:lvl4pPr>
            <a:lvl5pPr algn="ctr">
              <a:defRPr sz="2025" b="1">
                <a:solidFill>
                  <a:srgbClr val="C00000"/>
                </a:solidFill>
              </a:defRPr>
            </a:lvl5pPr>
            <a:lvl6pPr algn="ctr">
              <a:defRPr sz="2025" b="1">
                <a:solidFill>
                  <a:srgbClr val="C00000"/>
                </a:solidFill>
              </a:defRPr>
            </a:lvl6pPr>
            <a:lvl7pPr algn="ctr">
              <a:defRPr sz="2025" b="1">
                <a:solidFill>
                  <a:srgbClr val="C00000"/>
                </a:solidFill>
              </a:defRPr>
            </a:lvl7pPr>
            <a:lvl8pPr algn="ctr">
              <a:defRPr sz="2025" b="1">
                <a:solidFill>
                  <a:srgbClr val="C00000"/>
                </a:solidFill>
              </a:defRPr>
            </a:lvl8pPr>
            <a:lvl9pPr algn="ctr">
              <a:defRPr sz="2025" b="1">
                <a:solidFill>
                  <a:srgbClr val="C00000"/>
                </a:solidFill>
              </a:defRPr>
            </a:lvl9pPr>
          </a:lstStyle>
          <a:p>
            <a:pPr algn="ctr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① 本地种植基础</a:t>
            </a:r>
          </a:p>
        </p:txBody>
      </p:sp>
      <p:pic>
        <p:nvPicPr>
          <p:cNvPr id="8001007" name="图片 8001006">
            <a:extLst>
              <a:ext uri="{FF2B5EF4-FFF2-40B4-BE49-F238E27FC236}">
                <a16:creationId xmlns:a16="http://schemas.microsoft.com/office/drawing/2014/main" id="{01BFB9A9-0789-4612-A18E-C18C24596B0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5332" b="15332"/>
          <a:stretch>
            <a:fillRect/>
          </a:stretch>
        </p:blipFill>
        <p:spPr>
          <a:xfrm>
            <a:off x="600075" y="2571750"/>
            <a:ext cx="2419350" cy="1143000"/>
          </a:xfrm>
          <a:prstGeom prst="rect">
            <a:avLst/>
          </a:prstGeom>
        </p:spPr>
      </p:pic>
      <p:sp>
        <p:nvSpPr>
          <p:cNvPr id="8001008" name="矩形 8001007">
            <a:extLst>
              <a:ext uri="{FF2B5EF4-FFF2-40B4-BE49-F238E27FC236}">
                <a16:creationId xmlns:a16="http://schemas.microsoft.com/office/drawing/2014/main" id="{A7EB3F53-0AB7-43A0-B030-FCF1ECB02A14}"/>
              </a:ext>
            </a:extLst>
          </p:cNvPr>
          <p:cNvSpPr>
            <a:spLocks noGrp="1"/>
          </p:cNvSpPr>
          <p:nvPr/>
        </p:nvSpPr>
        <p:spPr>
          <a:xfrm>
            <a:off x="600075" y="3810000"/>
            <a:ext cx="2419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C00000"/>
                </a:solidFill>
              </a:defRPr>
            </a:defPPr>
            <a:lvl1pPr algn="ctr">
              <a:defRPr sz="2700" b="1">
                <a:solidFill>
                  <a:srgbClr val="C00000"/>
                </a:solidFill>
              </a:defRPr>
            </a:lvl1pPr>
            <a:lvl2pPr algn="ctr">
              <a:defRPr sz="2700" b="1">
                <a:solidFill>
                  <a:srgbClr val="C00000"/>
                </a:solidFill>
              </a:defRPr>
            </a:lvl2pPr>
            <a:lvl3pPr algn="ctr">
              <a:defRPr sz="2700" b="1">
                <a:solidFill>
                  <a:srgbClr val="C00000"/>
                </a:solidFill>
              </a:defRPr>
            </a:lvl3pPr>
            <a:lvl4pPr algn="ctr">
              <a:defRPr sz="2700" b="1">
                <a:solidFill>
                  <a:srgbClr val="C00000"/>
                </a:solidFill>
              </a:defRPr>
            </a:lvl4pPr>
            <a:lvl5pPr algn="ctr">
              <a:defRPr sz="2700" b="1">
                <a:solidFill>
                  <a:srgbClr val="C00000"/>
                </a:solidFill>
              </a:defRPr>
            </a:lvl5pPr>
            <a:lvl6pPr algn="ctr">
              <a:defRPr sz="2700" b="1">
                <a:solidFill>
                  <a:srgbClr val="C00000"/>
                </a:solidFill>
              </a:defRPr>
            </a:lvl6pPr>
            <a:lvl7pPr algn="ctr">
              <a:defRPr sz="2700" b="1">
                <a:solidFill>
                  <a:srgbClr val="C00000"/>
                </a:solidFill>
              </a:defRPr>
            </a:lvl7pPr>
            <a:lvl8pPr algn="ctr">
              <a:defRPr sz="2700" b="1">
                <a:solidFill>
                  <a:srgbClr val="C00000"/>
                </a:solidFill>
              </a:defRPr>
            </a:lvl8pPr>
            <a:lvl9pPr algn="ctr">
              <a:defRPr sz="2700" b="1">
                <a:solidFill>
                  <a:srgbClr val="C00000"/>
                </a:solidFill>
              </a:defRPr>
            </a:lvl9pPr>
          </a:lstStyle>
          <a:p>
            <a:pPr algn="ctr">
              <a:defRPr sz="2700" b="1">
                <a:solidFill>
                  <a:srgbClr val="C00000"/>
                </a:solidFill>
              </a:defRPr>
            </a:pPr>
            <a:r>
              <a:rPr sz="2700" b="1">
                <a:solidFill>
                  <a:srgbClr val="C00000"/>
                </a:solidFill>
              </a:rPr>
              <a:t>980余亩</a:t>
            </a:r>
          </a:p>
        </p:txBody>
      </p:sp>
      <p:sp>
        <p:nvSpPr>
          <p:cNvPr id="8001009" name="矩形 8001008">
            <a:extLst>
              <a:ext uri="{FF2B5EF4-FFF2-40B4-BE49-F238E27FC236}">
                <a16:creationId xmlns:a16="http://schemas.microsoft.com/office/drawing/2014/main" id="{2E896A81-47D4-4957-A0E1-0E5AC4748FFF}"/>
              </a:ext>
            </a:extLst>
          </p:cNvPr>
          <p:cNvSpPr>
            <a:spLocks noGrp="1"/>
          </p:cNvSpPr>
          <p:nvPr/>
        </p:nvSpPr>
        <p:spPr>
          <a:xfrm>
            <a:off x="600075" y="42481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202020"/>
                </a:solidFill>
              </a:defRPr>
            </a:defPPr>
            <a:lvl1pPr algn="ctr">
              <a:defRPr sz="1500" b="1">
                <a:solidFill>
                  <a:srgbClr val="202020"/>
                </a:solidFill>
              </a:defRPr>
            </a:lvl1pPr>
            <a:lvl2pPr algn="ctr">
              <a:defRPr sz="1500" b="1">
                <a:solidFill>
                  <a:srgbClr val="202020"/>
                </a:solidFill>
              </a:defRPr>
            </a:lvl2pPr>
            <a:lvl3pPr algn="ctr">
              <a:defRPr sz="1500" b="1">
                <a:solidFill>
                  <a:srgbClr val="202020"/>
                </a:solidFill>
              </a:defRPr>
            </a:lvl3pPr>
            <a:lvl4pPr algn="ctr">
              <a:defRPr sz="1500" b="1">
                <a:solidFill>
                  <a:srgbClr val="202020"/>
                </a:solidFill>
              </a:defRPr>
            </a:lvl4pPr>
            <a:lvl5pPr algn="ctr">
              <a:defRPr sz="1500" b="1">
                <a:solidFill>
                  <a:srgbClr val="202020"/>
                </a:solidFill>
              </a:defRPr>
            </a:lvl5pPr>
            <a:lvl6pPr algn="ctr">
              <a:defRPr sz="1500" b="1">
                <a:solidFill>
                  <a:srgbClr val="202020"/>
                </a:solidFill>
              </a:defRPr>
            </a:lvl6pPr>
            <a:lvl7pPr algn="ctr">
              <a:defRPr sz="1500" b="1">
                <a:solidFill>
                  <a:srgbClr val="202020"/>
                </a:solidFill>
              </a:defRPr>
            </a:lvl7pPr>
            <a:lvl8pPr algn="ctr">
              <a:defRPr sz="1500" b="1">
                <a:solidFill>
                  <a:srgbClr val="202020"/>
                </a:solidFill>
              </a:defRPr>
            </a:lvl8pPr>
            <a:lvl9pPr algn="ctr">
              <a:defRPr sz="1500" b="1">
                <a:solidFill>
                  <a:srgbClr val="202020"/>
                </a:solidFill>
              </a:defRPr>
            </a:lvl9pPr>
          </a:lstStyle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项目示范种植面积</a:t>
            </a:r>
          </a:p>
        </p:txBody>
      </p:sp>
      <p:sp>
        <p:nvSpPr>
          <p:cNvPr id="8001010" name="矩形 8001009">
            <a:extLst>
              <a:ext uri="{FF2B5EF4-FFF2-40B4-BE49-F238E27FC236}">
                <a16:creationId xmlns:a16="http://schemas.microsoft.com/office/drawing/2014/main" id="{DF4A5210-4F7C-493C-80AF-2B4C91BAEAA5}"/>
              </a:ext>
            </a:extLst>
          </p:cNvPr>
          <p:cNvSpPr>
            <a:spLocks noGrp="1"/>
          </p:cNvSpPr>
          <p:nvPr/>
        </p:nvSpPr>
        <p:spPr>
          <a:xfrm>
            <a:off x="638175" y="4591050"/>
            <a:ext cx="23431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202020"/>
                </a:solidFill>
              </a:defRPr>
            </a:defPPr>
            <a:lvl1pPr algn="l">
              <a:defRPr sz="1575" b="0">
                <a:solidFill>
                  <a:srgbClr val="202020"/>
                </a:solidFill>
              </a:defRPr>
            </a:lvl1pPr>
            <a:lvl2pPr algn="l">
              <a:defRPr sz="1575" b="0">
                <a:solidFill>
                  <a:srgbClr val="202020"/>
                </a:solidFill>
              </a:defRPr>
            </a:lvl2pPr>
            <a:lvl3pPr algn="l">
              <a:defRPr sz="1575" b="0">
                <a:solidFill>
                  <a:srgbClr val="202020"/>
                </a:solidFill>
              </a:defRPr>
            </a:lvl3pPr>
            <a:lvl4pPr algn="l">
              <a:defRPr sz="1575" b="0">
                <a:solidFill>
                  <a:srgbClr val="202020"/>
                </a:solidFill>
              </a:defRPr>
            </a:lvl4pPr>
            <a:lvl5pPr algn="l">
              <a:defRPr sz="1575" b="0">
                <a:solidFill>
                  <a:srgbClr val="202020"/>
                </a:solidFill>
              </a:defRPr>
            </a:lvl5pPr>
            <a:lvl6pPr algn="l">
              <a:defRPr sz="1575" b="0">
                <a:solidFill>
                  <a:srgbClr val="202020"/>
                </a:solidFill>
              </a:defRPr>
            </a:lvl6pPr>
            <a:lvl7pPr algn="l">
              <a:defRPr sz="1575" b="0">
                <a:solidFill>
                  <a:srgbClr val="202020"/>
                </a:solidFill>
              </a:defRPr>
            </a:lvl7pPr>
            <a:lvl8pPr algn="l">
              <a:defRPr sz="1575" b="0">
                <a:solidFill>
                  <a:srgbClr val="202020"/>
                </a:solidFill>
              </a:defRPr>
            </a:lvl8pPr>
            <a:lvl9pPr algn="l">
              <a:defRPr sz="1575" b="0">
                <a:solidFill>
                  <a:srgbClr val="202020"/>
                </a:solidFill>
              </a:defRPr>
            </a:lvl9pPr>
          </a:lstStyle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安徽省阜阳市太和县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胡总、双庙、三堂三镇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覆盖30户合作果农</a:t>
            </a:r>
          </a:p>
        </p:txBody>
      </p:sp>
      <p:sp>
        <p:nvSpPr>
          <p:cNvPr id="8001011" name="矩形 8001010">
            <a:extLst>
              <a:ext uri="{FF2B5EF4-FFF2-40B4-BE49-F238E27FC236}">
                <a16:creationId xmlns:a16="http://schemas.microsoft.com/office/drawing/2014/main" id="{61902BE5-C6CB-480D-BCD7-8E9DFF925662}"/>
              </a:ext>
            </a:extLst>
          </p:cNvPr>
          <p:cNvSpPr>
            <a:spLocks noGrp="1"/>
          </p:cNvSpPr>
          <p:nvPr/>
        </p:nvSpPr>
        <p:spPr>
          <a:xfrm>
            <a:off x="600075" y="5362575"/>
            <a:ext cx="2419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66666"/>
                </a:solidFill>
              </a:defRPr>
            </a:defPPr>
            <a:lvl1pPr algn="ctr">
              <a:defRPr sz="975" b="0">
                <a:solidFill>
                  <a:srgbClr val="666666"/>
                </a:solidFill>
              </a:defRPr>
            </a:lvl1pPr>
            <a:lvl2pPr algn="ctr">
              <a:defRPr sz="975" b="0">
                <a:solidFill>
                  <a:srgbClr val="666666"/>
                </a:solidFill>
              </a:defRPr>
            </a:lvl2pPr>
            <a:lvl3pPr algn="ctr">
              <a:defRPr sz="975" b="0">
                <a:solidFill>
                  <a:srgbClr val="666666"/>
                </a:solidFill>
              </a:defRPr>
            </a:lvl3pPr>
            <a:lvl4pPr algn="ctr">
              <a:defRPr sz="975" b="0">
                <a:solidFill>
                  <a:srgbClr val="666666"/>
                </a:solidFill>
              </a:defRPr>
            </a:lvl4pPr>
            <a:lvl5pPr algn="ctr">
              <a:defRPr sz="975" b="0">
                <a:solidFill>
                  <a:srgbClr val="666666"/>
                </a:solidFill>
              </a:defRPr>
            </a:lvl5pPr>
            <a:lvl6pPr algn="ctr">
              <a:defRPr sz="975" b="0">
                <a:solidFill>
                  <a:srgbClr val="666666"/>
                </a:solidFill>
              </a:defRPr>
            </a:lvl6pPr>
            <a:lvl7pPr algn="ctr">
              <a:defRPr sz="975" b="0">
                <a:solidFill>
                  <a:srgbClr val="666666"/>
                </a:solidFill>
              </a:defRPr>
            </a:lvl7pPr>
            <a:lvl8pPr algn="ctr">
              <a:defRPr sz="975" b="0">
                <a:solidFill>
                  <a:srgbClr val="666666"/>
                </a:solidFill>
              </a:defRPr>
            </a:lvl8pPr>
            <a:lvl9pPr algn="ctr">
              <a:defRPr sz="975" b="0">
                <a:solidFill>
                  <a:srgbClr val="666666"/>
                </a:solidFill>
              </a:defRPr>
            </a:lvl9pPr>
          </a:lstStyle>
          <a:p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面积与覆盖范围据项目材料</a:t>
            </a:r>
          </a:p>
        </p:txBody>
      </p:sp>
      <p:sp>
        <p:nvSpPr>
          <p:cNvPr id="8001012" name="矩形 8001011">
            <a:extLst>
              <a:ext uri="{FF2B5EF4-FFF2-40B4-BE49-F238E27FC236}">
                <a16:creationId xmlns:a16="http://schemas.microsoft.com/office/drawing/2014/main" id="{6B06A37A-CADD-46C4-8839-1E0291E31851}"/>
              </a:ext>
            </a:extLst>
          </p:cNvPr>
          <p:cNvSpPr>
            <a:spLocks noGrp="1"/>
          </p:cNvSpPr>
          <p:nvPr/>
        </p:nvSpPr>
        <p:spPr>
          <a:xfrm>
            <a:off x="3343275" y="2038350"/>
            <a:ext cx="2647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01013" name="矩形 8001012">
            <a:extLst>
              <a:ext uri="{FF2B5EF4-FFF2-40B4-BE49-F238E27FC236}">
                <a16:creationId xmlns:a16="http://schemas.microsoft.com/office/drawing/2014/main" id="{E62F20DB-DBB2-4CE7-980A-FAA4BDFC9B1E}"/>
              </a:ext>
            </a:extLst>
          </p:cNvPr>
          <p:cNvSpPr>
            <a:spLocks noGrp="1"/>
          </p:cNvSpPr>
          <p:nvPr/>
        </p:nvSpPr>
        <p:spPr>
          <a:xfrm>
            <a:off x="3457575" y="2124075"/>
            <a:ext cx="2419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C00000"/>
                </a:solidFill>
              </a:defRPr>
            </a:defPPr>
            <a:lvl1pPr algn="ctr">
              <a:defRPr sz="2025" b="1">
                <a:solidFill>
                  <a:srgbClr val="C00000"/>
                </a:solidFill>
              </a:defRPr>
            </a:lvl1pPr>
            <a:lvl2pPr algn="ctr">
              <a:defRPr sz="2025" b="1">
                <a:solidFill>
                  <a:srgbClr val="C00000"/>
                </a:solidFill>
              </a:defRPr>
            </a:lvl2pPr>
            <a:lvl3pPr algn="ctr">
              <a:defRPr sz="2025" b="1">
                <a:solidFill>
                  <a:srgbClr val="C00000"/>
                </a:solidFill>
              </a:defRPr>
            </a:lvl3pPr>
            <a:lvl4pPr algn="ctr">
              <a:defRPr sz="2025" b="1">
                <a:solidFill>
                  <a:srgbClr val="C00000"/>
                </a:solidFill>
              </a:defRPr>
            </a:lvl4pPr>
            <a:lvl5pPr algn="ctr">
              <a:defRPr sz="2025" b="1">
                <a:solidFill>
                  <a:srgbClr val="C00000"/>
                </a:solidFill>
              </a:defRPr>
            </a:lvl5pPr>
            <a:lvl6pPr algn="ctr">
              <a:defRPr sz="2025" b="1">
                <a:solidFill>
                  <a:srgbClr val="C00000"/>
                </a:solidFill>
              </a:defRPr>
            </a:lvl6pPr>
            <a:lvl7pPr algn="ctr">
              <a:defRPr sz="2025" b="1">
                <a:solidFill>
                  <a:srgbClr val="C00000"/>
                </a:solidFill>
              </a:defRPr>
            </a:lvl7pPr>
            <a:lvl8pPr algn="ctr">
              <a:defRPr sz="2025" b="1">
                <a:solidFill>
                  <a:srgbClr val="C00000"/>
                </a:solidFill>
              </a:defRPr>
            </a:lvl8pPr>
            <a:lvl9pPr algn="ctr">
              <a:defRPr sz="2025" b="1">
                <a:solidFill>
                  <a:srgbClr val="C00000"/>
                </a:solidFill>
              </a:defRPr>
            </a:lvl9pPr>
          </a:lstStyle>
          <a:p>
            <a:pPr algn="ctr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② 鲜食与营养</a:t>
            </a:r>
          </a:p>
        </p:txBody>
      </p:sp>
      <p:pic>
        <p:nvPicPr>
          <p:cNvPr id="8001014" name="图片 8001013">
            <a:extLst>
              <a:ext uri="{FF2B5EF4-FFF2-40B4-BE49-F238E27FC236}">
                <a16:creationId xmlns:a16="http://schemas.microsoft.com/office/drawing/2014/main" id="{F7B92FF0-7126-42F3-9E6D-8878296C4FC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31102" b="31102"/>
          <a:stretch>
            <a:fillRect/>
          </a:stretch>
        </p:blipFill>
        <p:spPr>
          <a:xfrm>
            <a:off x="3457575" y="2571750"/>
            <a:ext cx="2419350" cy="1143000"/>
          </a:xfrm>
          <a:prstGeom prst="rect">
            <a:avLst/>
          </a:prstGeom>
        </p:spPr>
      </p:pic>
      <p:sp>
        <p:nvSpPr>
          <p:cNvPr id="8001015" name="矩形 8001014">
            <a:extLst>
              <a:ext uri="{FF2B5EF4-FFF2-40B4-BE49-F238E27FC236}">
                <a16:creationId xmlns:a16="http://schemas.microsoft.com/office/drawing/2014/main" id="{BCDC70A4-252C-40E4-BF1F-605E0BD46016}"/>
              </a:ext>
            </a:extLst>
          </p:cNvPr>
          <p:cNvSpPr>
            <a:spLocks noGrp="1"/>
          </p:cNvSpPr>
          <p:nvPr/>
        </p:nvSpPr>
        <p:spPr>
          <a:xfrm>
            <a:off x="3457575" y="3810000"/>
            <a:ext cx="2419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C00000"/>
                </a:solidFill>
              </a:defRPr>
            </a:defPPr>
            <a:lvl1pPr algn="ctr">
              <a:defRPr sz="2700" b="1">
                <a:solidFill>
                  <a:srgbClr val="C00000"/>
                </a:solidFill>
              </a:defRPr>
            </a:lvl1pPr>
            <a:lvl2pPr algn="ctr">
              <a:defRPr sz="2700" b="1">
                <a:solidFill>
                  <a:srgbClr val="C00000"/>
                </a:solidFill>
              </a:defRPr>
            </a:lvl2pPr>
            <a:lvl3pPr algn="ctr">
              <a:defRPr sz="2700" b="1">
                <a:solidFill>
                  <a:srgbClr val="C00000"/>
                </a:solidFill>
              </a:defRPr>
            </a:lvl3pPr>
            <a:lvl4pPr algn="ctr">
              <a:defRPr sz="2700" b="1">
                <a:solidFill>
                  <a:srgbClr val="C00000"/>
                </a:solidFill>
              </a:defRPr>
            </a:lvl4pPr>
            <a:lvl5pPr algn="ctr">
              <a:defRPr sz="2700" b="1">
                <a:solidFill>
                  <a:srgbClr val="C00000"/>
                </a:solidFill>
              </a:defRPr>
            </a:lvl5pPr>
            <a:lvl6pPr algn="ctr">
              <a:defRPr sz="2700" b="1">
                <a:solidFill>
                  <a:srgbClr val="C00000"/>
                </a:solidFill>
              </a:defRPr>
            </a:lvl6pPr>
            <a:lvl7pPr algn="ctr">
              <a:defRPr sz="2700" b="1">
                <a:solidFill>
                  <a:srgbClr val="C00000"/>
                </a:solidFill>
              </a:defRPr>
            </a:lvl7pPr>
            <a:lvl8pPr algn="ctr">
              <a:defRPr sz="2700" b="1">
                <a:solidFill>
                  <a:srgbClr val="C00000"/>
                </a:solidFill>
              </a:defRPr>
            </a:lvl8pPr>
            <a:lvl9pPr algn="ctr">
              <a:defRPr sz="2700" b="1">
                <a:solidFill>
                  <a:srgbClr val="C00000"/>
                </a:solidFill>
              </a:defRPr>
            </a:lvl9pPr>
          </a:lstStyle>
          <a:p>
            <a:pPr algn="ctr">
              <a:defRPr sz="2700" b="1">
                <a:solidFill>
                  <a:srgbClr val="C00000"/>
                </a:solidFill>
              </a:defRPr>
            </a:pPr>
            <a:r>
              <a:rPr sz="2700" b="1">
                <a:solidFill>
                  <a:srgbClr val="C00000"/>
                </a:solidFill>
              </a:rPr>
              <a:t>酸甜多汁</a:t>
            </a:r>
          </a:p>
        </p:txBody>
      </p:sp>
      <p:sp>
        <p:nvSpPr>
          <p:cNvPr id="8001016" name="矩形 8001015">
            <a:extLst>
              <a:ext uri="{FF2B5EF4-FFF2-40B4-BE49-F238E27FC236}">
                <a16:creationId xmlns:a16="http://schemas.microsoft.com/office/drawing/2014/main" id="{092C9C9A-36DE-4519-941B-67BE80A30883}"/>
              </a:ext>
            </a:extLst>
          </p:cNvPr>
          <p:cNvSpPr>
            <a:spLocks noGrp="1"/>
          </p:cNvSpPr>
          <p:nvPr/>
        </p:nvSpPr>
        <p:spPr>
          <a:xfrm>
            <a:off x="3457575" y="42481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202020"/>
                </a:solidFill>
              </a:defRPr>
            </a:defPPr>
            <a:lvl1pPr algn="ctr">
              <a:defRPr sz="1500" b="1">
                <a:solidFill>
                  <a:srgbClr val="202020"/>
                </a:solidFill>
              </a:defRPr>
            </a:lvl1pPr>
            <a:lvl2pPr algn="ctr">
              <a:defRPr sz="1500" b="1">
                <a:solidFill>
                  <a:srgbClr val="202020"/>
                </a:solidFill>
              </a:defRPr>
            </a:lvl2pPr>
            <a:lvl3pPr algn="ctr">
              <a:defRPr sz="1500" b="1">
                <a:solidFill>
                  <a:srgbClr val="202020"/>
                </a:solidFill>
              </a:defRPr>
            </a:lvl3pPr>
            <a:lvl4pPr algn="ctr">
              <a:defRPr sz="1500" b="1">
                <a:solidFill>
                  <a:srgbClr val="202020"/>
                </a:solidFill>
              </a:defRPr>
            </a:lvl4pPr>
            <a:lvl5pPr algn="ctr">
              <a:defRPr sz="1500" b="1">
                <a:solidFill>
                  <a:srgbClr val="202020"/>
                </a:solidFill>
              </a:defRPr>
            </a:lvl5pPr>
            <a:lvl6pPr algn="ctr">
              <a:defRPr sz="1500" b="1">
                <a:solidFill>
                  <a:srgbClr val="202020"/>
                </a:solidFill>
              </a:defRPr>
            </a:lvl6pPr>
            <a:lvl7pPr algn="ctr">
              <a:defRPr sz="1500" b="1">
                <a:solidFill>
                  <a:srgbClr val="202020"/>
                </a:solidFill>
              </a:defRPr>
            </a:lvl7pPr>
            <a:lvl8pPr algn="ctr">
              <a:defRPr sz="1500" b="1">
                <a:solidFill>
                  <a:srgbClr val="202020"/>
                </a:solidFill>
              </a:defRPr>
            </a:lvl8pPr>
            <a:lvl9pPr algn="ctr">
              <a:defRPr sz="1500" b="1">
                <a:solidFill>
                  <a:srgbClr val="202020"/>
                </a:solidFill>
              </a:defRPr>
            </a:lvl9pPr>
          </a:lstStyle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鲜食口感与营养价值</a:t>
            </a:r>
          </a:p>
        </p:txBody>
      </p:sp>
      <p:sp>
        <p:nvSpPr>
          <p:cNvPr id="8001017" name="矩形 8001016">
            <a:extLst>
              <a:ext uri="{FF2B5EF4-FFF2-40B4-BE49-F238E27FC236}">
                <a16:creationId xmlns:a16="http://schemas.microsoft.com/office/drawing/2014/main" id="{CC705B04-5FBE-4FB5-AB15-5E2C236BAB61}"/>
              </a:ext>
            </a:extLst>
          </p:cNvPr>
          <p:cNvSpPr>
            <a:spLocks noGrp="1"/>
          </p:cNvSpPr>
          <p:nvPr/>
        </p:nvSpPr>
        <p:spPr>
          <a:xfrm>
            <a:off x="3495675" y="4591050"/>
            <a:ext cx="23431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202020"/>
                </a:solidFill>
              </a:defRPr>
            </a:defPPr>
            <a:lvl1pPr algn="l">
              <a:defRPr sz="1575" b="0">
                <a:solidFill>
                  <a:srgbClr val="202020"/>
                </a:solidFill>
              </a:defRPr>
            </a:lvl1pPr>
            <a:lvl2pPr algn="l">
              <a:defRPr sz="1575" b="0">
                <a:solidFill>
                  <a:srgbClr val="202020"/>
                </a:solidFill>
              </a:defRPr>
            </a:lvl2pPr>
            <a:lvl3pPr algn="l">
              <a:defRPr sz="1575" b="0">
                <a:solidFill>
                  <a:srgbClr val="202020"/>
                </a:solidFill>
              </a:defRPr>
            </a:lvl3pPr>
            <a:lvl4pPr algn="l">
              <a:defRPr sz="1575" b="0">
                <a:solidFill>
                  <a:srgbClr val="202020"/>
                </a:solidFill>
              </a:defRPr>
            </a:lvl4pPr>
            <a:lvl5pPr algn="l">
              <a:defRPr sz="1575" b="0">
                <a:solidFill>
                  <a:srgbClr val="202020"/>
                </a:solidFill>
              </a:defRPr>
            </a:lvl5pPr>
            <a:lvl6pPr algn="l">
              <a:defRPr sz="1575" b="0">
                <a:solidFill>
                  <a:srgbClr val="202020"/>
                </a:solidFill>
              </a:defRPr>
            </a:lvl6pPr>
            <a:lvl7pPr algn="l">
              <a:defRPr sz="1575" b="0">
                <a:solidFill>
                  <a:srgbClr val="202020"/>
                </a:solidFill>
              </a:defRPr>
            </a:lvl7pPr>
            <a:lvl8pPr algn="l">
              <a:defRPr sz="1575" b="0">
                <a:solidFill>
                  <a:srgbClr val="202020"/>
                </a:solidFill>
              </a:defRPr>
            </a:lvl8pPr>
            <a:lvl9pPr algn="l">
              <a:defRPr sz="1575" b="0">
                <a:solidFill>
                  <a:srgbClr val="202020"/>
                </a:solidFill>
              </a:defRPr>
            </a:lvl9pPr>
          </a:lstStyle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樱桃含维生素C、钾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等营养成分，可丰富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居民日常鲜果选择</a:t>
            </a:r>
          </a:p>
        </p:txBody>
      </p:sp>
      <p:sp>
        <p:nvSpPr>
          <p:cNvPr id="8001018" name="矩形 8001017">
            <a:extLst>
              <a:ext uri="{FF2B5EF4-FFF2-40B4-BE49-F238E27FC236}">
                <a16:creationId xmlns:a16="http://schemas.microsoft.com/office/drawing/2014/main" id="{39C28B80-4BA9-4AB7-B16B-46E410DFCDF5}"/>
              </a:ext>
            </a:extLst>
          </p:cNvPr>
          <p:cNvSpPr>
            <a:spLocks noGrp="1"/>
          </p:cNvSpPr>
          <p:nvPr/>
        </p:nvSpPr>
        <p:spPr>
          <a:xfrm>
            <a:off x="3457575" y="5362575"/>
            <a:ext cx="2419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66666"/>
                </a:solidFill>
              </a:defRPr>
            </a:defPPr>
            <a:lvl1pPr algn="ctr">
              <a:defRPr sz="975" b="0">
                <a:solidFill>
                  <a:srgbClr val="666666"/>
                </a:solidFill>
              </a:defRPr>
            </a:lvl1pPr>
            <a:lvl2pPr algn="ctr">
              <a:defRPr sz="975" b="0">
                <a:solidFill>
                  <a:srgbClr val="666666"/>
                </a:solidFill>
              </a:defRPr>
            </a:lvl2pPr>
            <a:lvl3pPr algn="ctr">
              <a:defRPr sz="975" b="0">
                <a:solidFill>
                  <a:srgbClr val="666666"/>
                </a:solidFill>
              </a:defRPr>
            </a:lvl3pPr>
            <a:lvl4pPr algn="ctr">
              <a:defRPr sz="975" b="0">
                <a:solidFill>
                  <a:srgbClr val="666666"/>
                </a:solidFill>
              </a:defRPr>
            </a:lvl4pPr>
            <a:lvl5pPr algn="ctr">
              <a:defRPr sz="975" b="0">
                <a:solidFill>
                  <a:srgbClr val="666666"/>
                </a:solidFill>
              </a:defRPr>
            </a:lvl5pPr>
            <a:lvl6pPr algn="ctr">
              <a:defRPr sz="975" b="0">
                <a:solidFill>
                  <a:srgbClr val="666666"/>
                </a:solidFill>
              </a:defRPr>
            </a:lvl6pPr>
            <a:lvl7pPr algn="ctr">
              <a:defRPr sz="975" b="0">
                <a:solidFill>
                  <a:srgbClr val="666666"/>
                </a:solidFill>
              </a:defRPr>
            </a:lvl7pPr>
            <a:lvl8pPr algn="ctr">
              <a:defRPr sz="975" b="0">
                <a:solidFill>
                  <a:srgbClr val="666666"/>
                </a:solidFill>
              </a:defRPr>
            </a:lvl8pPr>
            <a:lvl9pPr algn="ctr">
              <a:defRPr sz="975" b="0">
                <a:solidFill>
                  <a:srgbClr val="666666"/>
                </a:solidFill>
              </a:defRPr>
            </a:lvl9pPr>
          </a:lstStyle>
          <a:p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一般营养特征，非本地检测值</a:t>
            </a:r>
          </a:p>
        </p:txBody>
      </p:sp>
      <p:sp>
        <p:nvSpPr>
          <p:cNvPr id="8001019" name="矩形 8001018">
            <a:extLst>
              <a:ext uri="{FF2B5EF4-FFF2-40B4-BE49-F238E27FC236}">
                <a16:creationId xmlns:a16="http://schemas.microsoft.com/office/drawing/2014/main" id="{412F6F74-5A19-46F2-8447-192A676CBAB0}"/>
              </a:ext>
            </a:extLst>
          </p:cNvPr>
          <p:cNvSpPr>
            <a:spLocks noGrp="1"/>
          </p:cNvSpPr>
          <p:nvPr/>
        </p:nvSpPr>
        <p:spPr>
          <a:xfrm>
            <a:off x="6200775" y="2038350"/>
            <a:ext cx="2647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01020" name="矩形 8001019">
            <a:extLst>
              <a:ext uri="{FF2B5EF4-FFF2-40B4-BE49-F238E27FC236}">
                <a16:creationId xmlns:a16="http://schemas.microsoft.com/office/drawing/2014/main" id="{FD81593B-FD4F-498E-A79C-9FE2F3F4876A}"/>
              </a:ext>
            </a:extLst>
          </p:cNvPr>
          <p:cNvSpPr>
            <a:spLocks noGrp="1"/>
          </p:cNvSpPr>
          <p:nvPr/>
        </p:nvSpPr>
        <p:spPr>
          <a:xfrm>
            <a:off x="6315075" y="2124075"/>
            <a:ext cx="2419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C00000"/>
                </a:solidFill>
              </a:defRPr>
            </a:defPPr>
            <a:lvl1pPr algn="ctr">
              <a:defRPr sz="2025" b="1">
                <a:solidFill>
                  <a:srgbClr val="C00000"/>
                </a:solidFill>
              </a:defRPr>
            </a:lvl1pPr>
            <a:lvl2pPr algn="ctr">
              <a:defRPr sz="2025" b="1">
                <a:solidFill>
                  <a:srgbClr val="C00000"/>
                </a:solidFill>
              </a:defRPr>
            </a:lvl2pPr>
            <a:lvl3pPr algn="ctr">
              <a:defRPr sz="2025" b="1">
                <a:solidFill>
                  <a:srgbClr val="C00000"/>
                </a:solidFill>
              </a:defRPr>
            </a:lvl3pPr>
            <a:lvl4pPr algn="ctr">
              <a:defRPr sz="2025" b="1">
                <a:solidFill>
                  <a:srgbClr val="C00000"/>
                </a:solidFill>
              </a:defRPr>
            </a:lvl4pPr>
            <a:lvl5pPr algn="ctr">
              <a:defRPr sz="2025" b="1">
                <a:solidFill>
                  <a:srgbClr val="C00000"/>
                </a:solidFill>
              </a:defRPr>
            </a:lvl5pPr>
            <a:lvl6pPr algn="ctr">
              <a:defRPr sz="2025" b="1">
                <a:solidFill>
                  <a:srgbClr val="C00000"/>
                </a:solidFill>
              </a:defRPr>
            </a:lvl6pPr>
            <a:lvl7pPr algn="ctr">
              <a:defRPr sz="2025" b="1">
                <a:solidFill>
                  <a:srgbClr val="C00000"/>
                </a:solidFill>
              </a:defRPr>
            </a:lvl7pPr>
            <a:lvl8pPr algn="ctr">
              <a:defRPr sz="2025" b="1">
                <a:solidFill>
                  <a:srgbClr val="C00000"/>
                </a:solidFill>
              </a:defRPr>
            </a:lvl8pPr>
            <a:lvl9pPr algn="ctr">
              <a:defRPr sz="2025" b="1">
                <a:solidFill>
                  <a:srgbClr val="C00000"/>
                </a:solidFill>
              </a:defRPr>
            </a:lvl9pPr>
          </a:lstStyle>
          <a:p>
            <a:pPr algn="ctr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③ 市场与销路</a:t>
            </a:r>
          </a:p>
        </p:txBody>
      </p:sp>
      <p:pic>
        <p:nvPicPr>
          <p:cNvPr id="8001021" name="图片 8001020">
            <a:extLst>
              <a:ext uri="{FF2B5EF4-FFF2-40B4-BE49-F238E27FC236}">
                <a16:creationId xmlns:a16="http://schemas.microsoft.com/office/drawing/2014/main" id="{2AEC5B09-7233-44D3-A127-B8727708E7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18299" b="18299"/>
          <a:stretch>
            <a:fillRect/>
          </a:stretch>
        </p:blipFill>
        <p:spPr>
          <a:xfrm>
            <a:off x="6315075" y="2571750"/>
            <a:ext cx="2419350" cy="1143000"/>
          </a:xfrm>
          <a:prstGeom prst="rect">
            <a:avLst/>
          </a:prstGeom>
        </p:spPr>
      </p:pic>
      <p:sp>
        <p:nvSpPr>
          <p:cNvPr id="8001022" name="矩形 8001021">
            <a:extLst>
              <a:ext uri="{FF2B5EF4-FFF2-40B4-BE49-F238E27FC236}">
                <a16:creationId xmlns:a16="http://schemas.microsoft.com/office/drawing/2014/main" id="{1854BCB9-3348-43D2-9D58-706BCB41B549}"/>
              </a:ext>
            </a:extLst>
          </p:cNvPr>
          <p:cNvSpPr>
            <a:spLocks noGrp="1"/>
          </p:cNvSpPr>
          <p:nvPr/>
        </p:nvSpPr>
        <p:spPr>
          <a:xfrm>
            <a:off x="6315075" y="3810000"/>
            <a:ext cx="2419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C00000"/>
                </a:solidFill>
              </a:defRPr>
            </a:defPPr>
            <a:lvl1pPr algn="ctr">
              <a:defRPr sz="2700" b="1">
                <a:solidFill>
                  <a:srgbClr val="C00000"/>
                </a:solidFill>
              </a:defRPr>
            </a:lvl1pPr>
            <a:lvl2pPr algn="ctr">
              <a:defRPr sz="2700" b="1">
                <a:solidFill>
                  <a:srgbClr val="C00000"/>
                </a:solidFill>
              </a:defRPr>
            </a:lvl2pPr>
            <a:lvl3pPr algn="ctr">
              <a:defRPr sz="2700" b="1">
                <a:solidFill>
                  <a:srgbClr val="C00000"/>
                </a:solidFill>
              </a:defRPr>
            </a:lvl3pPr>
            <a:lvl4pPr algn="ctr">
              <a:defRPr sz="2700" b="1">
                <a:solidFill>
                  <a:srgbClr val="C00000"/>
                </a:solidFill>
              </a:defRPr>
            </a:lvl4pPr>
            <a:lvl5pPr algn="ctr">
              <a:defRPr sz="2700" b="1">
                <a:solidFill>
                  <a:srgbClr val="C00000"/>
                </a:solidFill>
              </a:defRPr>
            </a:lvl5pPr>
            <a:lvl6pPr algn="ctr">
              <a:defRPr sz="2700" b="1">
                <a:solidFill>
                  <a:srgbClr val="C00000"/>
                </a:solidFill>
              </a:defRPr>
            </a:lvl6pPr>
            <a:lvl7pPr algn="ctr">
              <a:defRPr sz="2700" b="1">
                <a:solidFill>
                  <a:srgbClr val="C00000"/>
                </a:solidFill>
              </a:defRPr>
            </a:lvl7pPr>
            <a:lvl8pPr algn="ctr">
              <a:defRPr sz="2700" b="1">
                <a:solidFill>
                  <a:srgbClr val="C00000"/>
                </a:solidFill>
              </a:defRPr>
            </a:lvl8pPr>
            <a:lvl9pPr algn="ctr">
              <a:defRPr sz="2700" b="1">
                <a:solidFill>
                  <a:srgbClr val="C00000"/>
                </a:solidFill>
              </a:defRPr>
            </a:lvl9pPr>
          </a:lstStyle>
          <a:p>
            <a:pPr algn="ctr">
              <a:defRPr sz="2700" b="1">
                <a:solidFill>
                  <a:srgbClr val="C00000"/>
                </a:solidFill>
              </a:defRPr>
            </a:pPr>
            <a:r>
              <a:rPr sz="2700" b="1">
                <a:solidFill>
                  <a:srgbClr val="C00000"/>
                </a:solidFill>
              </a:rPr>
              <a:t>采摘＋电商</a:t>
            </a:r>
          </a:p>
        </p:txBody>
      </p:sp>
      <p:sp>
        <p:nvSpPr>
          <p:cNvPr id="8001023" name="矩形 8001022">
            <a:extLst>
              <a:ext uri="{FF2B5EF4-FFF2-40B4-BE49-F238E27FC236}">
                <a16:creationId xmlns:a16="http://schemas.microsoft.com/office/drawing/2014/main" id="{E78CC9B2-8BB1-4B60-AF53-704BF010E6C3}"/>
              </a:ext>
            </a:extLst>
          </p:cNvPr>
          <p:cNvSpPr>
            <a:spLocks noGrp="1"/>
          </p:cNvSpPr>
          <p:nvPr/>
        </p:nvSpPr>
        <p:spPr>
          <a:xfrm>
            <a:off x="6315075" y="42481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202020"/>
                </a:solidFill>
              </a:defRPr>
            </a:defPPr>
            <a:lvl1pPr algn="ctr">
              <a:defRPr sz="1500" b="1">
                <a:solidFill>
                  <a:srgbClr val="202020"/>
                </a:solidFill>
              </a:defRPr>
            </a:lvl1pPr>
            <a:lvl2pPr algn="ctr">
              <a:defRPr sz="1500" b="1">
                <a:solidFill>
                  <a:srgbClr val="202020"/>
                </a:solidFill>
              </a:defRPr>
            </a:lvl2pPr>
            <a:lvl3pPr algn="ctr">
              <a:defRPr sz="1500" b="1">
                <a:solidFill>
                  <a:srgbClr val="202020"/>
                </a:solidFill>
              </a:defRPr>
            </a:lvl3pPr>
            <a:lvl4pPr algn="ctr">
              <a:defRPr sz="1500" b="1">
                <a:solidFill>
                  <a:srgbClr val="202020"/>
                </a:solidFill>
              </a:defRPr>
            </a:lvl4pPr>
            <a:lvl5pPr algn="ctr">
              <a:defRPr sz="1500" b="1">
                <a:solidFill>
                  <a:srgbClr val="202020"/>
                </a:solidFill>
              </a:defRPr>
            </a:lvl5pPr>
            <a:lvl6pPr algn="ctr">
              <a:defRPr sz="1500" b="1">
                <a:solidFill>
                  <a:srgbClr val="202020"/>
                </a:solidFill>
              </a:defRPr>
            </a:lvl6pPr>
            <a:lvl7pPr algn="ctr">
              <a:defRPr sz="1500" b="1">
                <a:solidFill>
                  <a:srgbClr val="202020"/>
                </a:solidFill>
              </a:defRPr>
            </a:lvl7pPr>
            <a:lvl8pPr algn="ctr">
              <a:defRPr sz="1500" b="1">
                <a:solidFill>
                  <a:srgbClr val="202020"/>
                </a:solidFill>
              </a:defRPr>
            </a:lvl8pPr>
            <a:lvl9pPr algn="ctr">
              <a:defRPr sz="1500" b="1">
                <a:solidFill>
                  <a:srgbClr val="202020"/>
                </a:solidFill>
              </a:defRPr>
            </a:lvl9pPr>
          </a:lstStyle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拓展本地鲜果消费场景</a:t>
            </a:r>
          </a:p>
        </p:txBody>
      </p:sp>
      <p:sp>
        <p:nvSpPr>
          <p:cNvPr id="8001024" name="矩形 8001023">
            <a:extLst>
              <a:ext uri="{FF2B5EF4-FFF2-40B4-BE49-F238E27FC236}">
                <a16:creationId xmlns:a16="http://schemas.microsoft.com/office/drawing/2014/main" id="{701F975C-E49B-4050-9735-A4474D5A38FE}"/>
              </a:ext>
            </a:extLst>
          </p:cNvPr>
          <p:cNvSpPr>
            <a:spLocks noGrp="1"/>
          </p:cNvSpPr>
          <p:nvPr/>
        </p:nvSpPr>
        <p:spPr>
          <a:xfrm>
            <a:off x="6353175" y="4591050"/>
            <a:ext cx="23431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202020"/>
                </a:solidFill>
              </a:defRPr>
            </a:defPPr>
            <a:lvl1pPr algn="l">
              <a:defRPr sz="1575" b="0">
                <a:solidFill>
                  <a:srgbClr val="202020"/>
                </a:solidFill>
              </a:defRPr>
            </a:lvl1pPr>
            <a:lvl2pPr algn="l">
              <a:defRPr sz="1575" b="0">
                <a:solidFill>
                  <a:srgbClr val="202020"/>
                </a:solidFill>
              </a:defRPr>
            </a:lvl2pPr>
            <a:lvl3pPr algn="l">
              <a:defRPr sz="1575" b="0">
                <a:solidFill>
                  <a:srgbClr val="202020"/>
                </a:solidFill>
              </a:defRPr>
            </a:lvl3pPr>
            <a:lvl4pPr algn="l">
              <a:defRPr sz="1575" b="0">
                <a:solidFill>
                  <a:srgbClr val="202020"/>
                </a:solidFill>
              </a:defRPr>
            </a:lvl4pPr>
            <a:lvl5pPr algn="l">
              <a:defRPr sz="1575" b="0">
                <a:solidFill>
                  <a:srgbClr val="202020"/>
                </a:solidFill>
              </a:defRPr>
            </a:lvl5pPr>
            <a:lvl6pPr algn="l">
              <a:defRPr sz="1575" b="0">
                <a:solidFill>
                  <a:srgbClr val="202020"/>
                </a:solidFill>
              </a:defRPr>
            </a:lvl6pPr>
            <a:lvl7pPr algn="l">
              <a:defRPr sz="1575" b="0">
                <a:solidFill>
                  <a:srgbClr val="202020"/>
                </a:solidFill>
              </a:defRPr>
            </a:lvl7pPr>
            <a:lvl8pPr algn="l">
              <a:defRPr sz="1575" b="0">
                <a:solidFill>
                  <a:srgbClr val="202020"/>
                </a:solidFill>
              </a:defRPr>
            </a:lvl8pPr>
            <a:lvl9pPr algn="l">
              <a:defRPr sz="1575" b="0">
                <a:solidFill>
                  <a:srgbClr val="202020"/>
                </a:solidFill>
              </a:defRPr>
            </a:lvl9pPr>
          </a:lstStyle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采摘园对接周边客群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分级包装支持订单销售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短视频、直播帮助触达</a:t>
            </a:r>
          </a:p>
        </p:txBody>
      </p:sp>
      <p:sp>
        <p:nvSpPr>
          <p:cNvPr id="8001025" name="矩形 8001024">
            <a:extLst>
              <a:ext uri="{FF2B5EF4-FFF2-40B4-BE49-F238E27FC236}">
                <a16:creationId xmlns:a16="http://schemas.microsoft.com/office/drawing/2014/main" id="{6FE6D651-1C89-46D7-80FA-A87596380ADE}"/>
              </a:ext>
            </a:extLst>
          </p:cNvPr>
          <p:cNvSpPr>
            <a:spLocks noGrp="1"/>
          </p:cNvSpPr>
          <p:nvPr/>
        </p:nvSpPr>
        <p:spPr>
          <a:xfrm>
            <a:off x="6315075" y="5362575"/>
            <a:ext cx="2419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66666"/>
                </a:solidFill>
              </a:defRPr>
            </a:defPPr>
            <a:lvl1pPr algn="ctr">
              <a:defRPr sz="975" b="0">
                <a:solidFill>
                  <a:srgbClr val="666666"/>
                </a:solidFill>
              </a:defRPr>
            </a:lvl1pPr>
            <a:lvl2pPr algn="ctr">
              <a:defRPr sz="975" b="0">
                <a:solidFill>
                  <a:srgbClr val="666666"/>
                </a:solidFill>
              </a:defRPr>
            </a:lvl2pPr>
            <a:lvl3pPr algn="ctr">
              <a:defRPr sz="975" b="0">
                <a:solidFill>
                  <a:srgbClr val="666666"/>
                </a:solidFill>
              </a:defRPr>
            </a:lvl3pPr>
            <a:lvl4pPr algn="ctr">
              <a:defRPr sz="975" b="0">
                <a:solidFill>
                  <a:srgbClr val="666666"/>
                </a:solidFill>
              </a:defRPr>
            </a:lvl4pPr>
            <a:lvl5pPr algn="ctr">
              <a:defRPr sz="975" b="0">
                <a:solidFill>
                  <a:srgbClr val="666666"/>
                </a:solidFill>
              </a:defRPr>
            </a:lvl5pPr>
            <a:lvl6pPr algn="ctr">
              <a:defRPr sz="975" b="0">
                <a:solidFill>
                  <a:srgbClr val="666666"/>
                </a:solidFill>
              </a:defRPr>
            </a:lvl6pPr>
            <a:lvl7pPr algn="ctr">
              <a:defRPr sz="975" b="0">
                <a:solidFill>
                  <a:srgbClr val="666666"/>
                </a:solidFill>
              </a:defRPr>
            </a:lvl7pPr>
            <a:lvl8pPr algn="ctr">
              <a:defRPr sz="975" b="0">
                <a:solidFill>
                  <a:srgbClr val="666666"/>
                </a:solidFill>
              </a:defRPr>
            </a:lvl8pPr>
            <a:lvl9pPr algn="ctr">
              <a:defRPr sz="975" b="0">
                <a:solidFill>
                  <a:srgbClr val="666666"/>
                </a:solidFill>
              </a:defRPr>
            </a:lvl9pPr>
          </a:lstStyle>
          <a:p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渠道机会，不作市场规模推断</a:t>
            </a:r>
          </a:p>
        </p:txBody>
      </p:sp>
      <p:sp>
        <p:nvSpPr>
          <p:cNvPr id="8001026" name="矩形 8001025">
            <a:extLst>
              <a:ext uri="{FF2B5EF4-FFF2-40B4-BE49-F238E27FC236}">
                <a16:creationId xmlns:a16="http://schemas.microsoft.com/office/drawing/2014/main" id="{74C93372-A2F4-4A0D-A5F4-DAEBE6F1AC57}"/>
              </a:ext>
            </a:extLst>
          </p:cNvPr>
          <p:cNvSpPr>
            <a:spLocks noGrp="1"/>
          </p:cNvSpPr>
          <p:nvPr/>
        </p:nvSpPr>
        <p:spPr>
          <a:xfrm>
            <a:off x="9058275" y="2038350"/>
            <a:ext cx="2647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01027" name="矩形 8001026">
            <a:extLst>
              <a:ext uri="{FF2B5EF4-FFF2-40B4-BE49-F238E27FC236}">
                <a16:creationId xmlns:a16="http://schemas.microsoft.com/office/drawing/2014/main" id="{168226DC-EBB5-4233-B255-4BC9337CDC4B}"/>
              </a:ext>
            </a:extLst>
          </p:cNvPr>
          <p:cNvSpPr>
            <a:spLocks noGrp="1"/>
          </p:cNvSpPr>
          <p:nvPr/>
        </p:nvSpPr>
        <p:spPr>
          <a:xfrm>
            <a:off x="9172575" y="2124075"/>
            <a:ext cx="2419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C00000"/>
                </a:solidFill>
              </a:defRPr>
            </a:defPPr>
            <a:lvl1pPr algn="ctr">
              <a:defRPr sz="2025" b="1">
                <a:solidFill>
                  <a:srgbClr val="C00000"/>
                </a:solidFill>
              </a:defRPr>
            </a:lvl1pPr>
            <a:lvl2pPr algn="ctr">
              <a:defRPr sz="2025" b="1">
                <a:solidFill>
                  <a:srgbClr val="C00000"/>
                </a:solidFill>
              </a:defRPr>
            </a:lvl2pPr>
            <a:lvl3pPr algn="ctr">
              <a:defRPr sz="2025" b="1">
                <a:solidFill>
                  <a:srgbClr val="C00000"/>
                </a:solidFill>
              </a:defRPr>
            </a:lvl3pPr>
            <a:lvl4pPr algn="ctr">
              <a:defRPr sz="2025" b="1">
                <a:solidFill>
                  <a:srgbClr val="C00000"/>
                </a:solidFill>
              </a:defRPr>
            </a:lvl4pPr>
            <a:lvl5pPr algn="ctr">
              <a:defRPr sz="2025" b="1">
                <a:solidFill>
                  <a:srgbClr val="C00000"/>
                </a:solidFill>
              </a:defRPr>
            </a:lvl5pPr>
            <a:lvl6pPr algn="ctr">
              <a:defRPr sz="2025" b="1">
                <a:solidFill>
                  <a:srgbClr val="C00000"/>
                </a:solidFill>
              </a:defRPr>
            </a:lvl6pPr>
            <a:lvl7pPr algn="ctr">
              <a:defRPr sz="2025" b="1">
                <a:solidFill>
                  <a:srgbClr val="C00000"/>
                </a:solidFill>
              </a:defRPr>
            </a:lvl7pPr>
            <a:lvl8pPr algn="ctr">
              <a:defRPr sz="2025" b="1">
                <a:solidFill>
                  <a:srgbClr val="C00000"/>
                </a:solidFill>
              </a:defRPr>
            </a:lvl8pPr>
            <a:lvl9pPr algn="ctr">
              <a:defRPr sz="2025" b="1">
                <a:solidFill>
                  <a:srgbClr val="C00000"/>
                </a:solidFill>
              </a:defRPr>
            </a:lvl9pPr>
          </a:lstStyle>
          <a:p>
            <a:pPr algn="ctr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④ 政策支持</a:t>
            </a:r>
          </a:p>
        </p:txBody>
      </p:sp>
      <p:pic>
        <p:nvPicPr>
          <p:cNvPr id="8001028" name="图片 8001027">
            <a:extLst>
              <a:ext uri="{FF2B5EF4-FFF2-40B4-BE49-F238E27FC236}">
                <a16:creationId xmlns:a16="http://schemas.microsoft.com/office/drawing/2014/main" id="{E9EA21E6-9A79-47A4-B5AA-A0A5E7E775D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7608" b="7608"/>
          <a:stretch>
            <a:fillRect/>
          </a:stretch>
        </p:blipFill>
        <p:spPr>
          <a:xfrm>
            <a:off x="9172575" y="2571750"/>
            <a:ext cx="2419350" cy="1143000"/>
          </a:xfrm>
          <a:prstGeom prst="rect">
            <a:avLst/>
          </a:prstGeom>
        </p:spPr>
      </p:pic>
      <p:sp>
        <p:nvSpPr>
          <p:cNvPr id="8001029" name="矩形 8001028">
            <a:extLst>
              <a:ext uri="{FF2B5EF4-FFF2-40B4-BE49-F238E27FC236}">
                <a16:creationId xmlns:a16="http://schemas.microsoft.com/office/drawing/2014/main" id="{A4FBE76D-AECA-4422-AD76-1347579254DD}"/>
              </a:ext>
            </a:extLst>
          </p:cNvPr>
          <p:cNvSpPr>
            <a:spLocks noGrp="1"/>
          </p:cNvSpPr>
          <p:nvPr/>
        </p:nvSpPr>
        <p:spPr>
          <a:xfrm>
            <a:off x="9172575" y="3810000"/>
            <a:ext cx="2419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700" b="1">
                <a:solidFill>
                  <a:srgbClr val="C00000"/>
                </a:solidFill>
              </a:defRPr>
            </a:defPPr>
            <a:lvl1pPr algn="ctr">
              <a:defRPr sz="2700" b="1">
                <a:solidFill>
                  <a:srgbClr val="C00000"/>
                </a:solidFill>
              </a:defRPr>
            </a:lvl1pPr>
            <a:lvl2pPr algn="ctr">
              <a:defRPr sz="2700" b="1">
                <a:solidFill>
                  <a:srgbClr val="C00000"/>
                </a:solidFill>
              </a:defRPr>
            </a:lvl2pPr>
            <a:lvl3pPr algn="ctr">
              <a:defRPr sz="2700" b="1">
                <a:solidFill>
                  <a:srgbClr val="C00000"/>
                </a:solidFill>
              </a:defRPr>
            </a:lvl3pPr>
            <a:lvl4pPr algn="ctr">
              <a:defRPr sz="2700" b="1">
                <a:solidFill>
                  <a:srgbClr val="C00000"/>
                </a:solidFill>
              </a:defRPr>
            </a:lvl4pPr>
            <a:lvl5pPr algn="ctr">
              <a:defRPr sz="2700" b="1">
                <a:solidFill>
                  <a:srgbClr val="C00000"/>
                </a:solidFill>
              </a:defRPr>
            </a:lvl5pPr>
            <a:lvl6pPr algn="ctr">
              <a:defRPr sz="2700" b="1">
                <a:solidFill>
                  <a:srgbClr val="C00000"/>
                </a:solidFill>
              </a:defRPr>
            </a:lvl6pPr>
            <a:lvl7pPr algn="ctr">
              <a:defRPr sz="2700" b="1">
                <a:solidFill>
                  <a:srgbClr val="C00000"/>
                </a:solidFill>
              </a:defRPr>
            </a:lvl7pPr>
            <a:lvl8pPr algn="ctr">
              <a:defRPr sz="2700" b="1">
                <a:solidFill>
                  <a:srgbClr val="C00000"/>
                </a:solidFill>
              </a:defRPr>
            </a:lvl8pPr>
            <a:lvl9pPr algn="ctr">
              <a:defRPr sz="2700" b="1">
                <a:solidFill>
                  <a:srgbClr val="C00000"/>
                </a:solidFill>
              </a:defRPr>
            </a:lvl9pPr>
          </a:lstStyle>
          <a:p>
            <a:pPr algn="ctr">
              <a:defRPr sz="2700" b="1">
                <a:solidFill>
                  <a:srgbClr val="C00000"/>
                </a:solidFill>
              </a:defRPr>
            </a:pPr>
            <a:r>
              <a:rPr sz="2700" b="1">
                <a:solidFill>
                  <a:srgbClr val="C00000"/>
                </a:solidFill>
              </a:rPr>
              <a:t>智慧农业</a:t>
            </a:r>
          </a:p>
        </p:txBody>
      </p:sp>
      <p:sp>
        <p:nvSpPr>
          <p:cNvPr id="8001030" name="矩形 8001029">
            <a:extLst>
              <a:ext uri="{FF2B5EF4-FFF2-40B4-BE49-F238E27FC236}">
                <a16:creationId xmlns:a16="http://schemas.microsoft.com/office/drawing/2014/main" id="{9FE8F635-3CEE-4A4E-9B02-036DE65BB787}"/>
              </a:ext>
            </a:extLst>
          </p:cNvPr>
          <p:cNvSpPr>
            <a:spLocks noGrp="1"/>
          </p:cNvSpPr>
          <p:nvPr/>
        </p:nvSpPr>
        <p:spPr>
          <a:xfrm>
            <a:off x="9172575" y="42481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202020"/>
                </a:solidFill>
              </a:defRPr>
            </a:defPPr>
            <a:lvl1pPr algn="ctr">
              <a:defRPr sz="1500" b="1">
                <a:solidFill>
                  <a:srgbClr val="202020"/>
                </a:solidFill>
              </a:defRPr>
            </a:lvl1pPr>
            <a:lvl2pPr algn="ctr">
              <a:defRPr sz="1500" b="1">
                <a:solidFill>
                  <a:srgbClr val="202020"/>
                </a:solidFill>
              </a:defRPr>
            </a:lvl2pPr>
            <a:lvl3pPr algn="ctr">
              <a:defRPr sz="1500" b="1">
                <a:solidFill>
                  <a:srgbClr val="202020"/>
                </a:solidFill>
              </a:defRPr>
            </a:lvl3pPr>
            <a:lvl4pPr algn="ctr">
              <a:defRPr sz="1500" b="1">
                <a:solidFill>
                  <a:srgbClr val="202020"/>
                </a:solidFill>
              </a:defRPr>
            </a:lvl4pPr>
            <a:lvl5pPr algn="ctr">
              <a:defRPr sz="1500" b="1">
                <a:solidFill>
                  <a:srgbClr val="202020"/>
                </a:solidFill>
              </a:defRPr>
            </a:lvl5pPr>
            <a:lvl6pPr algn="ctr">
              <a:defRPr sz="1500" b="1">
                <a:solidFill>
                  <a:srgbClr val="202020"/>
                </a:solidFill>
              </a:defRPr>
            </a:lvl6pPr>
            <a:lvl7pPr algn="ctr">
              <a:defRPr sz="1500" b="1">
                <a:solidFill>
                  <a:srgbClr val="202020"/>
                </a:solidFill>
              </a:defRPr>
            </a:lvl7pPr>
            <a:lvl8pPr algn="ctr">
              <a:defRPr sz="1500" b="1">
                <a:solidFill>
                  <a:srgbClr val="202020"/>
                </a:solidFill>
              </a:defRPr>
            </a:lvl8pPr>
            <a:lvl9pPr algn="ctr">
              <a:defRPr sz="1500" b="1">
                <a:solidFill>
                  <a:srgbClr val="202020"/>
                </a:solidFill>
              </a:defRPr>
            </a:lvl9pPr>
          </a:lstStyle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生产数字化与技术推广</a:t>
            </a:r>
          </a:p>
        </p:txBody>
      </p:sp>
      <p:sp>
        <p:nvSpPr>
          <p:cNvPr id="8001031" name="矩形 8001030">
            <a:extLst>
              <a:ext uri="{FF2B5EF4-FFF2-40B4-BE49-F238E27FC236}">
                <a16:creationId xmlns:a16="http://schemas.microsoft.com/office/drawing/2014/main" id="{58C056D4-463E-4B34-AA74-DA612F30994E}"/>
              </a:ext>
            </a:extLst>
          </p:cNvPr>
          <p:cNvSpPr>
            <a:spLocks noGrp="1"/>
          </p:cNvSpPr>
          <p:nvPr/>
        </p:nvSpPr>
        <p:spPr>
          <a:xfrm>
            <a:off x="9210675" y="4591050"/>
            <a:ext cx="23431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202020"/>
                </a:solidFill>
              </a:defRPr>
            </a:defPPr>
            <a:lvl1pPr algn="l">
              <a:defRPr sz="1575" b="0">
                <a:solidFill>
                  <a:srgbClr val="202020"/>
                </a:solidFill>
              </a:defRPr>
            </a:lvl1pPr>
            <a:lvl2pPr algn="l">
              <a:defRPr sz="1575" b="0">
                <a:solidFill>
                  <a:srgbClr val="202020"/>
                </a:solidFill>
              </a:defRPr>
            </a:lvl2pPr>
            <a:lvl3pPr algn="l">
              <a:defRPr sz="1575" b="0">
                <a:solidFill>
                  <a:srgbClr val="202020"/>
                </a:solidFill>
              </a:defRPr>
            </a:lvl3pPr>
            <a:lvl4pPr algn="l">
              <a:defRPr sz="1575" b="0">
                <a:solidFill>
                  <a:srgbClr val="202020"/>
                </a:solidFill>
              </a:defRPr>
            </a:lvl4pPr>
            <a:lvl5pPr algn="l">
              <a:defRPr sz="1575" b="0">
                <a:solidFill>
                  <a:srgbClr val="202020"/>
                </a:solidFill>
              </a:defRPr>
            </a:lvl5pPr>
            <a:lvl6pPr algn="l">
              <a:defRPr sz="1575" b="0">
                <a:solidFill>
                  <a:srgbClr val="202020"/>
                </a:solidFill>
              </a:defRPr>
            </a:lvl6pPr>
            <a:lvl7pPr algn="l">
              <a:defRPr sz="1575" b="0">
                <a:solidFill>
                  <a:srgbClr val="202020"/>
                </a:solidFill>
              </a:defRPr>
            </a:lvl7pPr>
            <a:lvl8pPr algn="l">
              <a:defRPr sz="1575" b="0">
                <a:solidFill>
                  <a:srgbClr val="202020"/>
                </a:solidFill>
              </a:defRPr>
            </a:lvl8pPr>
            <a:lvl9pPr algn="l">
              <a:defRPr sz="1575" b="0">
                <a:solidFill>
                  <a:srgbClr val="202020"/>
                </a:solidFill>
              </a:defRPr>
            </a:lvl9pPr>
          </a:lstStyle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国家行动计划支持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低成本、易操作的应用</a:t>
            </a:r>
          </a:p>
          <a:p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为技术下沉果园提供方向</a:t>
            </a:r>
          </a:p>
        </p:txBody>
      </p:sp>
      <p:sp>
        <p:nvSpPr>
          <p:cNvPr id="8001032" name="矩形 8001031">
            <a:extLst>
              <a:ext uri="{FF2B5EF4-FFF2-40B4-BE49-F238E27FC236}">
                <a16:creationId xmlns:a16="http://schemas.microsoft.com/office/drawing/2014/main" id="{C66A29E7-8E79-4637-80CE-CF4BF7D6C29F}"/>
              </a:ext>
            </a:extLst>
          </p:cNvPr>
          <p:cNvSpPr>
            <a:spLocks noGrp="1"/>
          </p:cNvSpPr>
          <p:nvPr/>
        </p:nvSpPr>
        <p:spPr>
          <a:xfrm>
            <a:off x="9172575" y="5362575"/>
            <a:ext cx="2419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666666"/>
                </a:solidFill>
              </a:defRPr>
            </a:defPPr>
            <a:lvl1pPr algn="ctr">
              <a:defRPr sz="975" b="0">
                <a:solidFill>
                  <a:srgbClr val="666666"/>
                </a:solidFill>
              </a:defRPr>
            </a:lvl1pPr>
            <a:lvl2pPr algn="ctr">
              <a:defRPr sz="975" b="0">
                <a:solidFill>
                  <a:srgbClr val="666666"/>
                </a:solidFill>
              </a:defRPr>
            </a:lvl2pPr>
            <a:lvl3pPr algn="ctr">
              <a:defRPr sz="975" b="0">
                <a:solidFill>
                  <a:srgbClr val="666666"/>
                </a:solidFill>
              </a:defRPr>
            </a:lvl3pPr>
            <a:lvl4pPr algn="ctr">
              <a:defRPr sz="975" b="0">
                <a:solidFill>
                  <a:srgbClr val="666666"/>
                </a:solidFill>
              </a:defRPr>
            </a:lvl4pPr>
            <a:lvl5pPr algn="ctr">
              <a:defRPr sz="975" b="0">
                <a:solidFill>
                  <a:srgbClr val="666666"/>
                </a:solidFill>
              </a:defRPr>
            </a:lvl5pPr>
            <a:lvl6pPr algn="ctr">
              <a:defRPr sz="975" b="0">
                <a:solidFill>
                  <a:srgbClr val="666666"/>
                </a:solidFill>
              </a:defRPr>
            </a:lvl6pPr>
            <a:lvl7pPr algn="ctr">
              <a:defRPr sz="975" b="0">
                <a:solidFill>
                  <a:srgbClr val="666666"/>
                </a:solidFill>
              </a:defRPr>
            </a:lvl7pPr>
            <a:lvl8pPr algn="ctr">
              <a:defRPr sz="975" b="0">
                <a:solidFill>
                  <a:srgbClr val="666666"/>
                </a:solidFill>
              </a:defRPr>
            </a:lvl8pPr>
            <a:lvl9pPr algn="ctr">
              <a:defRPr sz="975" b="0">
                <a:solidFill>
                  <a:srgbClr val="666666"/>
                </a:solidFill>
              </a:defRPr>
            </a:lvl9pPr>
          </a:lstStyle>
          <a:p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全国智慧农业行动计划</a:t>
            </a:r>
          </a:p>
          <a:p>
            <a:pPr algn="ctr">
              <a:defRPr sz="975" b="0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</a:rPr>
              <a:t>（2024—2028年）</a:t>
            </a:r>
          </a:p>
        </p:txBody>
      </p:sp>
      <p:sp>
        <p:nvSpPr>
          <p:cNvPr id="8001033" name="矩形 8001032">
            <a:extLst>
              <a:ext uri="{FF2B5EF4-FFF2-40B4-BE49-F238E27FC236}">
                <a16:creationId xmlns:a16="http://schemas.microsoft.com/office/drawing/2014/main" id="{2FA924D5-956D-45A5-9CDD-EE9861659785}"/>
              </a:ext>
            </a:extLst>
          </p:cNvPr>
          <p:cNvSpPr>
            <a:spLocks noGrp="1"/>
          </p:cNvSpPr>
          <p:nvPr/>
        </p:nvSpPr>
        <p:spPr>
          <a:xfrm>
            <a:off x="495300" y="5753100"/>
            <a:ext cx="112014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666666"/>
                </a:solidFill>
              </a:defRPr>
            </a:defPPr>
            <a:lvl1pPr algn="l">
              <a:defRPr sz="1200" b="0">
                <a:solidFill>
                  <a:srgbClr val="666666"/>
                </a:solidFill>
              </a:defRPr>
            </a:lvl1pPr>
            <a:lvl2pPr algn="l">
              <a:defRPr sz="1200" b="0">
                <a:solidFill>
                  <a:srgbClr val="666666"/>
                </a:solidFill>
              </a:defRPr>
            </a:lvl2pPr>
            <a:lvl3pPr algn="l">
              <a:defRPr sz="1200" b="0">
                <a:solidFill>
                  <a:srgbClr val="666666"/>
                </a:solidFill>
              </a:defRPr>
            </a:lvl3pPr>
            <a:lvl4pPr algn="l">
              <a:defRPr sz="1200" b="0">
                <a:solidFill>
                  <a:srgbClr val="666666"/>
                </a:solidFill>
              </a:defRPr>
            </a:lvl4pPr>
            <a:lvl5pPr algn="l">
              <a:defRPr sz="1200" b="0">
                <a:solidFill>
                  <a:srgbClr val="666666"/>
                </a:solidFill>
              </a:defRPr>
            </a:lvl5pPr>
            <a:lvl6pPr algn="l">
              <a:defRPr sz="1200" b="0">
                <a:solidFill>
                  <a:srgbClr val="666666"/>
                </a:solidFill>
              </a:defRPr>
            </a:lvl6pPr>
            <a:lvl7pPr algn="l">
              <a:defRPr sz="1200" b="0">
                <a:solidFill>
                  <a:srgbClr val="666666"/>
                </a:solidFill>
              </a:defRPr>
            </a:lvl7pPr>
            <a:lvl8pPr algn="l">
              <a:defRPr sz="1200" b="0">
                <a:solidFill>
                  <a:srgbClr val="666666"/>
                </a:solidFill>
              </a:defRPr>
            </a:lvl8pPr>
            <a:lvl9pPr algn="l">
              <a:defRPr sz="1200" b="0">
                <a:solidFill>
                  <a:srgbClr val="666666"/>
                </a:solidFill>
              </a:defRPr>
            </a:lvl9pPr>
          </a:lstStyle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口径：980余亩为项目示范面积，不代表太和县全县樱桃种植总面积。</a:t>
            </a:r>
          </a:p>
        </p:txBody>
      </p:sp>
      <p:sp>
        <p:nvSpPr>
          <p:cNvPr id="8001034" name="矩形 8001033">
            <a:extLst>
              <a:ext uri="{FF2B5EF4-FFF2-40B4-BE49-F238E27FC236}">
                <a16:creationId xmlns:a16="http://schemas.microsoft.com/office/drawing/2014/main" id="{7E8E6097-53F3-4F24-AF08-6177B3026D76}"/>
              </a:ext>
            </a:extLst>
          </p:cNvPr>
          <p:cNvSpPr>
            <a:spLocks noGrp="1"/>
          </p:cNvSpPr>
          <p:nvPr/>
        </p:nvSpPr>
        <p:spPr>
          <a:xfrm>
            <a:off x="381000" y="6096000"/>
            <a:ext cx="11430000" cy="409575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01035" name="矩形 8001034">
            <a:extLst>
              <a:ext uri="{FF2B5EF4-FFF2-40B4-BE49-F238E27FC236}">
                <a16:creationId xmlns:a16="http://schemas.microsoft.com/office/drawing/2014/main" id="{D353224A-AC9B-494D-B6A7-F9CDDD1EC28C}"/>
              </a:ext>
            </a:extLst>
          </p:cNvPr>
          <p:cNvSpPr>
            <a:spLocks noGrp="1"/>
          </p:cNvSpPr>
          <p:nvPr/>
        </p:nvSpPr>
        <p:spPr>
          <a:xfrm>
            <a:off x="514350" y="6115050"/>
            <a:ext cx="111633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defRPr sz="2025" b="1">
                <a:solidFill>
                  <a:srgbClr val="FFFFFF"/>
                </a:solidFill>
              </a:defRPr>
            </a:lvl1pPr>
            <a:lvl2pPr algn="ctr">
              <a:defRPr sz="2025" b="1">
                <a:solidFill>
                  <a:srgbClr val="FFFFFF"/>
                </a:solidFill>
              </a:defRPr>
            </a:lvl2pPr>
            <a:lvl3pPr algn="ctr">
              <a:defRPr sz="2025" b="1">
                <a:solidFill>
                  <a:srgbClr val="FFFFFF"/>
                </a:solidFill>
              </a:defRPr>
            </a:lvl3pPr>
            <a:lvl4pPr algn="ctr">
              <a:defRPr sz="2025" b="1">
                <a:solidFill>
                  <a:srgbClr val="FFFFFF"/>
                </a:solidFill>
              </a:defRPr>
            </a:lvl4pPr>
            <a:lvl5pPr algn="ctr">
              <a:defRPr sz="2025" b="1">
                <a:solidFill>
                  <a:srgbClr val="FFFFFF"/>
                </a:solidFill>
              </a:defRPr>
            </a:lvl5pPr>
            <a:lvl6pPr algn="ctr">
              <a:defRPr sz="2025" b="1">
                <a:solidFill>
                  <a:srgbClr val="FFFFFF"/>
                </a:solidFill>
              </a:defRPr>
            </a:lvl6pPr>
            <a:lvl7pPr algn="ctr">
              <a:defRPr sz="2025" b="1">
                <a:solidFill>
                  <a:srgbClr val="FFFFFF"/>
                </a:solidFill>
              </a:defRPr>
            </a:lvl7pPr>
            <a:lvl8pPr algn="ctr">
              <a:defRPr sz="2025" b="1">
                <a:solidFill>
                  <a:srgbClr val="FFFFFF"/>
                </a:solidFill>
              </a:defRPr>
            </a:lvl8pPr>
            <a:lvl9pPr algn="ctr">
              <a:defRPr sz="2025" b="1">
                <a:solidFill>
                  <a:srgbClr val="FFFFFF"/>
                </a:solidFill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项目切入点：绿色管护提升品质，采后减损与销售服务提升种植效益</a:t>
            </a:r>
          </a:p>
        </p:txBody>
      </p:sp>
    </p:spTree>
    <p:extLst>
      <p:ext uri="{BB962C8B-B14F-4D97-AF65-F5344CB8AC3E}">
        <p14:creationId xmlns:p14="http://schemas.microsoft.com/office/powerpoint/2010/main" val="293070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PA-文本框 30++++"/>
          <p:cNvSpPr txBox="1"/>
          <p:nvPr>
            <p:custDataLst>
              <p:tags r:id="rId1"/>
            </p:custDataLst>
          </p:nvPr>
        </p:nvSpPr>
        <p:spPr>
          <a:xfrm>
            <a:off x="4400550" y="247650"/>
            <a:ext cx="5143500" cy="54292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1" i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樱桃种植年销售收入提升测算</a:t>
            </a:r>
          </a:p>
        </p:txBody>
      </p:sp>
      <p:pic>
        <p:nvPicPr>
          <p:cNvPr id="2097294" name="图片 8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5"/>
          <a:srcRect/>
          <a:stretch>
            <a:fillRect/>
          </a:stretch>
        </p:blipFill>
        <p:spPr>
          <a:xfrm>
            <a:off x="9667734" y="18520"/>
            <a:ext cx="2650798" cy="750963"/>
          </a:xfrm>
          <a:prstGeom prst="rect">
            <a:avLst/>
          </a:prstGeom>
          <a:noFill/>
        </p:spPr>
      </p:pic>
      <p:sp>
        <p:nvSpPr>
          <p:cNvPr id="1048747" name="文本框 40"/>
          <p:cNvSpPr txBox="1"/>
          <p:nvPr>
            <p:custDataLst>
              <p:tags r:id="rId3"/>
            </p:custDataLst>
          </p:nvPr>
        </p:nvSpPr>
        <p:spPr>
          <a:xfrm>
            <a:off x="330200" y="2768600"/>
            <a:ext cx="5029200" cy="369332"/>
          </a:xfrm>
          <a:prstGeom prst="rect">
            <a:avLst/>
          </a:prstGeom>
          <a:noFill/>
        </p:spPr>
        <p:txBody>
          <a:bodyPr vert="horz" wrap="square" lIns="50800" tIns="0" rIns="76200" bIns="50800" rtlCol="0" anchor="t">
            <a:noAutofit/>
          </a:bodyPr>
          <a:lstStyle/>
          <a:p>
            <a:endParaRPr lang="en-US" sz="950">
              <a:solidFill>
                <a:srgbClr val="481C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97295" name="图片 4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6"/>
          <a:stretch>
            <a:fillRect/>
          </a:stretch>
        </p:blipFill>
        <p:spPr>
          <a:xfrm>
            <a:off x="1592580" y="275590"/>
            <a:ext cx="449580" cy="448945"/>
          </a:xfrm>
          <a:prstGeom prst="rect">
            <a:avLst/>
          </a:prstGeom>
        </p:spPr>
      </p:pic>
      <p:grpSp>
        <p:nvGrpSpPr>
          <p:cNvPr id="91" name="组合 72"/>
          <p:cNvGrpSpPr/>
          <p:nvPr/>
        </p:nvGrpSpPr>
        <p:grpSpPr bwMode="auto">
          <a:xfrm>
            <a:off x="-153988" y="219075"/>
            <a:ext cx="4383088" cy="608017"/>
            <a:chOff x="713021" y="276855"/>
            <a:chExt cx="4383448" cy="608817"/>
          </a:xfrm>
        </p:grpSpPr>
        <p:sp>
          <p:nvSpPr>
            <p:cNvPr id="1048748" name="矩形 48"/>
            <p:cNvSpPr/>
            <p:nvPr>
              <p:custDataLst>
                <p:tags r:id="rId60"/>
              </p:custDataLst>
            </p:nvPr>
          </p:nvSpPr>
          <p:spPr>
            <a:xfrm>
              <a:off x="713021" y="276855"/>
              <a:ext cx="2589426" cy="581789"/>
            </a:xfrm>
            <a:prstGeom prst="rect">
              <a:avLst/>
            </a:prstGeom>
            <a:noFill/>
            <a:ln w="4445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800" b="1" kern="0" dirty="0">
                <a:solidFill>
                  <a:srgbClr val="FF0000"/>
                </a:solidFill>
                <a:latin typeface="微软雅黑" panose="020B0503020204020204" charset="-122"/>
                <a:ea typeface="等线" panose="02010600030101010101" pitchFamily="2" charset="-122"/>
              </a:endParaRPr>
            </a:p>
          </p:txBody>
        </p:sp>
        <p:grpSp>
          <p:nvGrpSpPr>
            <p:cNvPr id="92" name="组合 50"/>
            <p:cNvGrpSpPr/>
            <p:nvPr/>
          </p:nvGrpSpPr>
          <p:grpSpPr>
            <a:xfrm>
              <a:off x="2994541" y="277158"/>
              <a:ext cx="2101928" cy="608514"/>
              <a:chOff x="1593039" y="294968"/>
              <a:chExt cx="1875328" cy="710176"/>
            </a:xfrm>
            <a:solidFill>
              <a:srgbClr val="FFC000">
                <a:lumMod val="60000"/>
                <a:lumOff val="40000"/>
              </a:srgbClr>
            </a:solidFill>
          </p:grpSpPr>
          <p:sp>
            <p:nvSpPr>
              <p:cNvPr id="1048749" name="矩形 51"/>
              <p:cNvSpPr/>
              <p:nvPr>
                <p:custDataLst>
                  <p:tags r:id="rId61"/>
                </p:custDataLst>
              </p:nvPr>
            </p:nvSpPr>
            <p:spPr>
              <a:xfrm>
                <a:off x="1593039" y="294968"/>
                <a:ext cx="1866249" cy="678426"/>
              </a:xfrm>
              <a:prstGeom prst="rect">
                <a:avLst/>
              </a:prstGeom>
              <a:solidFill>
                <a:srgbClr val="C00000"/>
              </a:solidFill>
              <a:ln w="444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b="1" kern="0" dirty="0">
                  <a:solidFill>
                    <a:prstClr val="white"/>
                  </a:solidFill>
                  <a:latin typeface="微软雅黑" panose="020B0503020204020204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48750" name="文本框 52"/>
              <p:cNvSpPr txBox="1"/>
              <p:nvPr>
                <p:custDataLst>
                  <p:tags r:id="rId62"/>
                </p:custDataLst>
              </p:nvPr>
            </p:nvSpPr>
            <p:spPr>
              <a:xfrm>
                <a:off x="1598620" y="361400"/>
                <a:ext cx="1861248" cy="56767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txBody>
              <a:bodyPr vert="horz" wrap="none" lIns="0" tIns="0" rIns="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2805" b="1" i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帮扶案例</a:t>
                </a:r>
                <a:endParaRPr lang="zh-CN" sz="2805"/>
              </a:p>
            </p:txBody>
          </p:sp>
        </p:grpSp>
      </p:grpSp>
      <p:sp>
        <p:nvSpPr>
          <p:cNvPr id="1048751" name="文本框 53"/>
          <p:cNvSpPr txBox="1"/>
          <p:nvPr>
            <p:custDataLst>
              <p:tags r:id="rId5"/>
            </p:custDataLst>
          </p:nvPr>
        </p:nvSpPr>
        <p:spPr bwMode="auto">
          <a:xfrm>
            <a:off x="76200" y="276225"/>
            <a:ext cx="1466850" cy="48577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50" b="0" i="0">
                <a:solidFill>
                  <a:srgbClr val="BD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一樱俱全</a:t>
            </a:r>
            <a:endParaRPr lang="zh-CN" sz="2250"/>
          </a:p>
        </p:txBody>
      </p:sp>
      <p:pic>
        <p:nvPicPr>
          <p:cNvPr id="2097296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1532111" y="415650"/>
            <a:ext cx="767401" cy="384097"/>
          </a:xfrm>
          <a:prstGeom prst="rect">
            <a:avLst/>
          </a:prstGeom>
        </p:spPr>
      </p:pic>
      <p:pic>
        <p:nvPicPr>
          <p:cNvPr id="2097297" name="图片 2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604768"/>
            <a:ext cx="12192000" cy="6234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52" name="矩形 1169"/>
          <p:cNvSpPr/>
          <p:nvPr>
            <p:custDataLst>
              <p:tags r:id="rId8"/>
            </p:custDataLst>
          </p:nvPr>
        </p:nvSpPr>
        <p:spPr>
          <a:xfrm>
            <a:off x="6058696" y="1348561"/>
            <a:ext cx="5825157" cy="1554141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lIns="89611" tIns="44806" rIns="89611" bIns="44806" rtlCol="0" anchor="ctr"/>
          <a:lstStyle/>
          <a:p>
            <a:pPr algn="ctr"/>
            <a:endParaRPr lang="zh-CN" altLang="en-US" sz="1765" kern="0">
              <a:solidFill>
                <a:prstClr val="white"/>
              </a:solidFill>
              <a:latin typeface="Arial Narrow" panose="020B0606020202030204"/>
              <a:ea typeface="微软雅黑" panose="020B0503020204020204" charset="-122"/>
            </a:endParaRPr>
          </a:p>
        </p:txBody>
      </p:sp>
      <p:sp>
        <p:nvSpPr>
          <p:cNvPr id="1048753" name="文本框 1172"/>
          <p:cNvSpPr txBox="1"/>
          <p:nvPr>
            <p:custDataLst>
              <p:tags r:id="rId9"/>
            </p:custDataLst>
          </p:nvPr>
        </p:nvSpPr>
        <p:spPr>
          <a:xfrm>
            <a:off x="6181725" y="1447800"/>
            <a:ext cx="1514475" cy="4953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 i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销售收入指标</a:t>
            </a:r>
          </a:p>
        </p:txBody>
      </p:sp>
      <p:sp>
        <p:nvSpPr>
          <p:cNvPr id="1048754" name="TextBox 1172+"/>
          <p:cNvSpPr txBox="1"/>
          <p:nvPr>
            <p:custDataLst>
              <p:tags r:id="rId10"/>
            </p:custDataLst>
          </p:nvPr>
        </p:nvSpPr>
        <p:spPr>
          <a:xfrm>
            <a:off x="6181725" y="1981200"/>
            <a:ext cx="1514475" cy="46672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1" i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樱桃销售收入</a:t>
            </a:r>
          </a:p>
        </p:txBody>
      </p:sp>
      <p:sp>
        <p:nvSpPr>
          <p:cNvPr id="1048755" name="TextBox 1172++"/>
          <p:cNvSpPr txBox="1"/>
          <p:nvPr>
            <p:custDataLst>
              <p:tags r:id="rId11"/>
            </p:custDataLst>
          </p:nvPr>
        </p:nvSpPr>
        <p:spPr>
          <a:xfrm>
            <a:off x="6181725" y="2447925"/>
            <a:ext cx="1514475" cy="46672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1" i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销售收入增幅</a:t>
            </a:r>
          </a:p>
        </p:txBody>
      </p:sp>
      <p:cxnSp>
        <p:nvCxnSpPr>
          <p:cNvPr id="3145738" name="直接连接符 66"/>
          <p:cNvCxnSpPr/>
          <p:nvPr>
            <p:custDataLst>
              <p:tags r:id="rId12"/>
            </p:custDataLst>
          </p:nvPr>
        </p:nvCxnSpPr>
        <p:spPr>
          <a:xfrm>
            <a:off x="6058696" y="1962195"/>
            <a:ext cx="356790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9" name="Straight Connector 66+"/>
          <p:cNvCxnSpPr/>
          <p:nvPr>
            <p:custDataLst>
              <p:tags r:id="rId13"/>
            </p:custDataLst>
          </p:nvPr>
        </p:nvCxnSpPr>
        <p:spPr>
          <a:xfrm>
            <a:off x="6058696" y="2401070"/>
            <a:ext cx="356790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56" name="TextBox 1172+"/>
          <p:cNvSpPr txBox="1"/>
          <p:nvPr>
            <p:custDataLst>
              <p:tags r:id="rId14"/>
            </p:custDataLst>
          </p:nvPr>
        </p:nvSpPr>
        <p:spPr>
          <a:xfrm>
            <a:off x="7924800" y="1447800"/>
            <a:ext cx="1590675" cy="49530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1" i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基准情景</a:t>
            </a:r>
          </a:p>
        </p:txBody>
      </p:sp>
      <p:sp>
        <p:nvSpPr>
          <p:cNvPr id="1048757" name="TextBox 1172++"/>
          <p:cNvSpPr txBox="1"/>
          <p:nvPr>
            <p:custDataLst>
              <p:tags r:id="rId15"/>
            </p:custDataLst>
          </p:nvPr>
        </p:nvSpPr>
        <p:spPr>
          <a:xfrm>
            <a:off x="7924800" y="1981200"/>
            <a:ext cx="1590675" cy="46672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1" i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3万元/年</a:t>
            </a:r>
            <a:endParaRPr lang="zh-CN" sz="2100"/>
          </a:p>
        </p:txBody>
      </p:sp>
      <p:sp>
        <p:nvSpPr>
          <p:cNvPr id="1048758" name="TextBox 1172+++"/>
          <p:cNvSpPr txBox="1"/>
          <p:nvPr>
            <p:custDataLst>
              <p:tags r:id="rId16"/>
            </p:custDataLst>
          </p:nvPr>
        </p:nvSpPr>
        <p:spPr>
          <a:xfrm>
            <a:off x="7924800" y="2447925"/>
            <a:ext cx="1590675" cy="46672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1" i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lang="zh-CN" sz="2100"/>
          </a:p>
        </p:txBody>
      </p:sp>
      <p:sp>
        <p:nvSpPr>
          <p:cNvPr id="1048759" name="矩形: 圆角 74"/>
          <p:cNvSpPr/>
          <p:nvPr>
            <p:custDataLst>
              <p:tags r:id="rId17"/>
            </p:custDataLst>
          </p:nvPr>
        </p:nvSpPr>
        <p:spPr>
          <a:xfrm>
            <a:off x="9747250" y="1226301"/>
            <a:ext cx="1940191" cy="177682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27060">
              <a:solidFill>
                <a:srgbClr val="BF0000"/>
              </a:solidFill>
              <a:latin typeface="方正字迹-龙吟体 简" panose="02000500000000000000" pitchFamily="2" charset="-122"/>
              <a:ea typeface="方正字迹-龙吟体 简" panose="02000500000000000000" pitchFamily="2" charset="-122"/>
            </a:endParaRPr>
          </a:p>
        </p:txBody>
      </p:sp>
      <p:sp>
        <p:nvSpPr>
          <p:cNvPr id="1048760" name="等腰三角形 75"/>
          <p:cNvSpPr/>
          <p:nvPr>
            <p:custDataLst>
              <p:tags r:id="rId18"/>
            </p:custDataLst>
          </p:nvPr>
        </p:nvSpPr>
        <p:spPr>
          <a:xfrm>
            <a:off x="11687441" y="1226301"/>
            <a:ext cx="120650" cy="122260"/>
          </a:xfrm>
          <a:prstGeom prst="triangle">
            <a:avLst>
              <a:gd name="adj" fmla="val 0"/>
            </a:avLst>
          </a:prstGeom>
          <a:gradFill>
            <a:gsLst>
              <a:gs pos="0">
                <a:srgbClr val="F28F97"/>
              </a:gs>
              <a:gs pos="42000">
                <a:srgbClr val="EC5763"/>
              </a:gs>
              <a:gs pos="100000">
                <a:srgbClr val="E51E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61" name="Isosceles Triangle 75+"/>
          <p:cNvSpPr/>
          <p:nvPr>
            <p:custDataLst>
              <p:tags r:id="rId19"/>
            </p:custDataLst>
          </p:nvPr>
        </p:nvSpPr>
        <p:spPr>
          <a:xfrm flipH="1">
            <a:off x="9626600" y="1226301"/>
            <a:ext cx="120650" cy="122260"/>
          </a:xfrm>
          <a:prstGeom prst="triangle">
            <a:avLst>
              <a:gd name="adj" fmla="val 0"/>
            </a:avLst>
          </a:prstGeom>
          <a:gradFill>
            <a:gsLst>
              <a:gs pos="0">
                <a:srgbClr val="F28F97"/>
              </a:gs>
              <a:gs pos="42000">
                <a:srgbClr val="EC5763"/>
              </a:gs>
              <a:gs pos="100000">
                <a:srgbClr val="E51E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62" name="Isosceles Triangle 75++"/>
          <p:cNvSpPr/>
          <p:nvPr>
            <p:custDataLst>
              <p:tags r:id="rId20"/>
            </p:custDataLst>
          </p:nvPr>
        </p:nvSpPr>
        <p:spPr>
          <a:xfrm flipH="1" flipV="1">
            <a:off x="9626600" y="2902702"/>
            <a:ext cx="120650" cy="100419"/>
          </a:xfrm>
          <a:prstGeom prst="triangle">
            <a:avLst>
              <a:gd name="adj" fmla="val 0"/>
            </a:avLst>
          </a:prstGeom>
          <a:gradFill>
            <a:gsLst>
              <a:gs pos="0">
                <a:srgbClr val="F28F97"/>
              </a:gs>
              <a:gs pos="42000">
                <a:srgbClr val="EC5763"/>
              </a:gs>
              <a:gs pos="100000">
                <a:srgbClr val="E51E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63" name="Isosceles Triangle 75+"/>
          <p:cNvSpPr/>
          <p:nvPr>
            <p:custDataLst>
              <p:tags r:id="rId21"/>
            </p:custDataLst>
          </p:nvPr>
        </p:nvSpPr>
        <p:spPr>
          <a:xfrm flipV="1">
            <a:off x="11687441" y="2902702"/>
            <a:ext cx="120650" cy="100419"/>
          </a:xfrm>
          <a:prstGeom prst="triangle">
            <a:avLst>
              <a:gd name="adj" fmla="val 0"/>
            </a:avLst>
          </a:prstGeom>
          <a:gradFill>
            <a:gsLst>
              <a:gs pos="0">
                <a:srgbClr val="F28F97"/>
              </a:gs>
              <a:gs pos="42000">
                <a:srgbClr val="EC5763"/>
              </a:gs>
              <a:gs pos="100000">
                <a:srgbClr val="E51E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64" name="TextBox 1172++"/>
          <p:cNvSpPr txBox="1"/>
          <p:nvPr>
            <p:custDataLst>
              <p:tags r:id="rId22"/>
            </p:custDataLst>
          </p:nvPr>
        </p:nvSpPr>
        <p:spPr>
          <a:xfrm>
            <a:off x="9839325" y="1343025"/>
            <a:ext cx="1724025" cy="590550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改善情景</a:t>
            </a:r>
          </a:p>
        </p:txBody>
      </p:sp>
      <p:cxnSp>
        <p:nvCxnSpPr>
          <p:cNvPr id="3145740" name="Straight Connector 66+"/>
          <p:cNvCxnSpPr/>
          <p:nvPr>
            <p:custDataLst>
              <p:tags r:id="rId23"/>
            </p:custDataLst>
          </p:nvPr>
        </p:nvCxnSpPr>
        <p:spPr>
          <a:xfrm>
            <a:off x="9846737" y="1962195"/>
            <a:ext cx="1767413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65" name="TextBox 1172++++"/>
          <p:cNvSpPr txBox="1"/>
          <p:nvPr>
            <p:custDataLst>
              <p:tags r:id="rId24"/>
            </p:custDataLst>
          </p:nvPr>
        </p:nvSpPr>
        <p:spPr>
          <a:xfrm>
            <a:off x="9839325" y="2447925"/>
            <a:ext cx="1724025" cy="46672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约213%</a:t>
            </a:r>
            <a:endParaRPr lang="zh-CN" sz="2100"/>
          </a:p>
        </p:txBody>
      </p:sp>
      <p:sp>
        <p:nvSpPr>
          <p:cNvPr id="1048766" name="TextBox 1172+++"/>
          <p:cNvSpPr txBox="1"/>
          <p:nvPr>
            <p:custDataLst>
              <p:tags r:id="rId25"/>
            </p:custDataLst>
          </p:nvPr>
        </p:nvSpPr>
        <p:spPr>
          <a:xfrm>
            <a:off x="9839325" y="1981200"/>
            <a:ext cx="1724025" cy="46672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9.4万元/年</a:t>
            </a:r>
            <a:endParaRPr lang="zh-CN" sz="2100"/>
          </a:p>
        </p:txBody>
      </p:sp>
      <p:cxnSp>
        <p:nvCxnSpPr>
          <p:cNvPr id="3145741" name="Straight Connector 66++"/>
          <p:cNvCxnSpPr/>
          <p:nvPr>
            <p:custDataLst>
              <p:tags r:id="rId26"/>
            </p:custDataLst>
          </p:nvPr>
        </p:nvCxnSpPr>
        <p:spPr>
          <a:xfrm>
            <a:off x="9846737" y="2413815"/>
            <a:ext cx="1767413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3" name="组合 1040"/>
          <p:cNvGrpSpPr/>
          <p:nvPr/>
        </p:nvGrpSpPr>
        <p:grpSpPr>
          <a:xfrm>
            <a:off x="4320193" y="1623212"/>
            <a:ext cx="1430478" cy="810596"/>
            <a:chOff x="4320193" y="1623212"/>
            <a:chExt cx="1430478" cy="810596"/>
          </a:xfrm>
          <a:solidFill>
            <a:srgbClr val="C00000"/>
          </a:solidFill>
        </p:grpSpPr>
        <p:sp>
          <p:nvSpPr>
            <p:cNvPr id="1048767" name="任意多边形: 形状 1167"/>
            <p:cNvSpPr/>
            <p:nvPr>
              <p:custDataLst>
                <p:tags r:id="rId58"/>
              </p:custDataLst>
            </p:nvPr>
          </p:nvSpPr>
          <p:spPr>
            <a:xfrm>
              <a:off x="4382078" y="1658280"/>
              <a:ext cx="1306708" cy="740460"/>
            </a:xfrm>
            <a:custGeom>
              <a:avLst/>
              <a:gdLst>
                <a:gd name="connsiteX0" fmla="*/ 402495 w 649126"/>
                <a:gd name="connsiteY0" fmla="*/ 0 h 514349"/>
                <a:gd name="connsiteX1" fmla="*/ 649126 w 649126"/>
                <a:gd name="connsiteY1" fmla="*/ 255799 h 514349"/>
                <a:gd name="connsiteX2" fmla="*/ 400661 w 649126"/>
                <a:gd name="connsiteY2" fmla="*/ 514350 h 514349"/>
                <a:gd name="connsiteX3" fmla="*/ 397911 w 649126"/>
                <a:gd name="connsiteY3" fmla="*/ 454755 h 514349"/>
                <a:gd name="connsiteX4" fmla="*/ 397911 w 649126"/>
                <a:gd name="connsiteY4" fmla="*/ 394243 h 514349"/>
                <a:gd name="connsiteX5" fmla="*/ 331898 w 649126"/>
                <a:gd name="connsiteY5" fmla="*/ 393326 h 514349"/>
                <a:gd name="connsiteX6" fmla="*/ 265885 w 649126"/>
                <a:gd name="connsiteY6" fmla="*/ 393326 h 514349"/>
                <a:gd name="connsiteX7" fmla="*/ 199872 w 649126"/>
                <a:gd name="connsiteY7" fmla="*/ 393326 h 514349"/>
                <a:gd name="connsiteX8" fmla="*/ 135693 w 649126"/>
                <a:gd name="connsiteY8" fmla="*/ 393326 h 514349"/>
                <a:gd name="connsiteX9" fmla="*/ 69680 w 649126"/>
                <a:gd name="connsiteY9" fmla="*/ 393326 h 514349"/>
                <a:gd name="connsiteX10" fmla="*/ 0 w 649126"/>
                <a:gd name="connsiteY10" fmla="*/ 393326 h 514349"/>
                <a:gd name="connsiteX11" fmla="*/ 97185 w 649126"/>
                <a:gd name="connsiteY11" fmla="*/ 244798 h 514349"/>
                <a:gd name="connsiteX12" fmla="*/ 917 w 649126"/>
                <a:gd name="connsiteY12" fmla="*/ 100853 h 514349"/>
                <a:gd name="connsiteX13" fmla="*/ 397911 w 649126"/>
                <a:gd name="connsiteY13" fmla="*/ 100853 h 514349"/>
                <a:gd name="connsiteX14" fmla="*/ 397911 w 649126"/>
                <a:gd name="connsiteY14" fmla="*/ 1834 h 514349"/>
                <a:gd name="connsiteX15" fmla="*/ 402495 w 649126"/>
                <a:gd name="connsiteY15" fmla="*/ 0 h 514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9126" h="514349">
                  <a:moveTo>
                    <a:pt x="402495" y="0"/>
                  </a:moveTo>
                  <a:cubicBezTo>
                    <a:pt x="484094" y="84350"/>
                    <a:pt x="565693" y="169616"/>
                    <a:pt x="649126" y="255799"/>
                  </a:cubicBezTo>
                  <a:cubicBezTo>
                    <a:pt x="566610" y="341983"/>
                    <a:pt x="485011" y="427250"/>
                    <a:pt x="400661" y="514350"/>
                  </a:cubicBezTo>
                  <a:cubicBezTo>
                    <a:pt x="396077" y="492346"/>
                    <a:pt x="398828" y="473092"/>
                    <a:pt x="397911" y="454755"/>
                  </a:cubicBezTo>
                  <a:cubicBezTo>
                    <a:pt x="397911" y="435501"/>
                    <a:pt x="397911" y="416247"/>
                    <a:pt x="397911" y="394243"/>
                  </a:cubicBezTo>
                  <a:cubicBezTo>
                    <a:pt x="374990" y="393326"/>
                    <a:pt x="352985" y="394243"/>
                    <a:pt x="331898" y="393326"/>
                  </a:cubicBezTo>
                  <a:cubicBezTo>
                    <a:pt x="309894" y="393326"/>
                    <a:pt x="287889" y="393326"/>
                    <a:pt x="265885" y="393326"/>
                  </a:cubicBezTo>
                  <a:cubicBezTo>
                    <a:pt x="243881" y="393326"/>
                    <a:pt x="221876" y="393326"/>
                    <a:pt x="199872" y="393326"/>
                  </a:cubicBezTo>
                  <a:cubicBezTo>
                    <a:pt x="178785" y="393326"/>
                    <a:pt x="156780" y="393326"/>
                    <a:pt x="135693" y="393326"/>
                  </a:cubicBezTo>
                  <a:cubicBezTo>
                    <a:pt x="113689" y="393326"/>
                    <a:pt x="91685" y="393326"/>
                    <a:pt x="69680" y="393326"/>
                  </a:cubicBezTo>
                  <a:cubicBezTo>
                    <a:pt x="47676" y="393326"/>
                    <a:pt x="25672" y="393326"/>
                    <a:pt x="0" y="393326"/>
                  </a:cubicBezTo>
                  <a:cubicBezTo>
                    <a:pt x="33006" y="341983"/>
                    <a:pt x="65096" y="293390"/>
                    <a:pt x="97185" y="244798"/>
                  </a:cubicBezTo>
                  <a:cubicBezTo>
                    <a:pt x="66013" y="198038"/>
                    <a:pt x="33923" y="151279"/>
                    <a:pt x="917" y="100853"/>
                  </a:cubicBezTo>
                  <a:cubicBezTo>
                    <a:pt x="134776" y="100853"/>
                    <a:pt x="264968" y="100853"/>
                    <a:pt x="397911" y="100853"/>
                  </a:cubicBezTo>
                  <a:cubicBezTo>
                    <a:pt x="397911" y="66930"/>
                    <a:pt x="397911" y="33923"/>
                    <a:pt x="397911" y="1834"/>
                  </a:cubicBezTo>
                  <a:cubicBezTo>
                    <a:pt x="398828" y="917"/>
                    <a:pt x="400661" y="917"/>
                    <a:pt x="402495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27060">
                <a:gradFill flip="none" rotWithShape="1">
                  <a:gsLst>
                    <a:gs pos="37000">
                      <a:schemeClr val="accent1"/>
                    </a:gs>
                    <a:gs pos="57000">
                      <a:schemeClr val="accent2"/>
                    </a:gs>
                  </a:gsLst>
                  <a:lin ang="0" scaled="1"/>
                </a:gradFill>
                <a:latin typeface="方正字迹-龙吟体 简" panose="02000500000000000000" pitchFamily="2" charset="-122"/>
                <a:ea typeface="方正字迹-龙吟体 简" panose="02000500000000000000" pitchFamily="2" charset="-122"/>
              </a:endParaRPr>
            </a:p>
          </p:txBody>
        </p:sp>
        <p:sp>
          <p:nvSpPr>
            <p:cNvPr id="1048768" name="Freeform 1167+"/>
            <p:cNvSpPr/>
            <p:nvPr>
              <p:custDataLst>
                <p:tags r:id="rId59"/>
              </p:custDataLst>
            </p:nvPr>
          </p:nvSpPr>
          <p:spPr>
            <a:xfrm>
              <a:off x="4320193" y="1623212"/>
              <a:ext cx="1430478" cy="810596"/>
            </a:xfrm>
            <a:custGeom>
              <a:avLst/>
              <a:gdLst>
                <a:gd name="connsiteX0" fmla="*/ 402495 w 649126"/>
                <a:gd name="connsiteY0" fmla="*/ 0 h 514349"/>
                <a:gd name="connsiteX1" fmla="*/ 649126 w 649126"/>
                <a:gd name="connsiteY1" fmla="*/ 255799 h 514349"/>
                <a:gd name="connsiteX2" fmla="*/ 400661 w 649126"/>
                <a:gd name="connsiteY2" fmla="*/ 514350 h 514349"/>
                <a:gd name="connsiteX3" fmla="*/ 397911 w 649126"/>
                <a:gd name="connsiteY3" fmla="*/ 454755 h 514349"/>
                <a:gd name="connsiteX4" fmla="*/ 397911 w 649126"/>
                <a:gd name="connsiteY4" fmla="*/ 394243 h 514349"/>
                <a:gd name="connsiteX5" fmla="*/ 331898 w 649126"/>
                <a:gd name="connsiteY5" fmla="*/ 393326 h 514349"/>
                <a:gd name="connsiteX6" fmla="*/ 265885 w 649126"/>
                <a:gd name="connsiteY6" fmla="*/ 393326 h 514349"/>
                <a:gd name="connsiteX7" fmla="*/ 199872 w 649126"/>
                <a:gd name="connsiteY7" fmla="*/ 393326 h 514349"/>
                <a:gd name="connsiteX8" fmla="*/ 135693 w 649126"/>
                <a:gd name="connsiteY8" fmla="*/ 393326 h 514349"/>
                <a:gd name="connsiteX9" fmla="*/ 69680 w 649126"/>
                <a:gd name="connsiteY9" fmla="*/ 393326 h 514349"/>
                <a:gd name="connsiteX10" fmla="*/ 0 w 649126"/>
                <a:gd name="connsiteY10" fmla="*/ 393326 h 514349"/>
                <a:gd name="connsiteX11" fmla="*/ 97185 w 649126"/>
                <a:gd name="connsiteY11" fmla="*/ 244798 h 514349"/>
                <a:gd name="connsiteX12" fmla="*/ 917 w 649126"/>
                <a:gd name="connsiteY12" fmla="*/ 100853 h 514349"/>
                <a:gd name="connsiteX13" fmla="*/ 397911 w 649126"/>
                <a:gd name="connsiteY13" fmla="*/ 100853 h 514349"/>
                <a:gd name="connsiteX14" fmla="*/ 397911 w 649126"/>
                <a:gd name="connsiteY14" fmla="*/ 1834 h 514349"/>
                <a:gd name="connsiteX15" fmla="*/ 402495 w 649126"/>
                <a:gd name="connsiteY15" fmla="*/ 0 h 514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9126" h="514349">
                  <a:moveTo>
                    <a:pt x="402495" y="0"/>
                  </a:moveTo>
                  <a:cubicBezTo>
                    <a:pt x="484094" y="84350"/>
                    <a:pt x="565693" y="169616"/>
                    <a:pt x="649126" y="255799"/>
                  </a:cubicBezTo>
                  <a:cubicBezTo>
                    <a:pt x="566610" y="341983"/>
                    <a:pt x="485011" y="427250"/>
                    <a:pt x="400661" y="514350"/>
                  </a:cubicBezTo>
                  <a:cubicBezTo>
                    <a:pt x="396077" y="492346"/>
                    <a:pt x="398828" y="473092"/>
                    <a:pt x="397911" y="454755"/>
                  </a:cubicBezTo>
                  <a:cubicBezTo>
                    <a:pt x="397911" y="435501"/>
                    <a:pt x="397911" y="416247"/>
                    <a:pt x="397911" y="394243"/>
                  </a:cubicBezTo>
                  <a:cubicBezTo>
                    <a:pt x="374990" y="393326"/>
                    <a:pt x="352985" y="394243"/>
                    <a:pt x="331898" y="393326"/>
                  </a:cubicBezTo>
                  <a:cubicBezTo>
                    <a:pt x="309894" y="393326"/>
                    <a:pt x="287889" y="393326"/>
                    <a:pt x="265885" y="393326"/>
                  </a:cubicBezTo>
                  <a:cubicBezTo>
                    <a:pt x="243881" y="393326"/>
                    <a:pt x="221876" y="393326"/>
                    <a:pt x="199872" y="393326"/>
                  </a:cubicBezTo>
                  <a:cubicBezTo>
                    <a:pt x="178785" y="393326"/>
                    <a:pt x="156780" y="393326"/>
                    <a:pt x="135693" y="393326"/>
                  </a:cubicBezTo>
                  <a:cubicBezTo>
                    <a:pt x="113689" y="393326"/>
                    <a:pt x="91685" y="393326"/>
                    <a:pt x="69680" y="393326"/>
                  </a:cubicBezTo>
                  <a:cubicBezTo>
                    <a:pt x="47676" y="393326"/>
                    <a:pt x="25672" y="393326"/>
                    <a:pt x="0" y="393326"/>
                  </a:cubicBezTo>
                  <a:cubicBezTo>
                    <a:pt x="33006" y="341983"/>
                    <a:pt x="65096" y="293390"/>
                    <a:pt x="97185" y="244798"/>
                  </a:cubicBezTo>
                  <a:cubicBezTo>
                    <a:pt x="66013" y="198038"/>
                    <a:pt x="33923" y="151279"/>
                    <a:pt x="917" y="100853"/>
                  </a:cubicBezTo>
                  <a:cubicBezTo>
                    <a:pt x="134776" y="100853"/>
                    <a:pt x="264968" y="100853"/>
                    <a:pt x="397911" y="100853"/>
                  </a:cubicBezTo>
                  <a:cubicBezTo>
                    <a:pt x="397911" y="66930"/>
                    <a:pt x="397911" y="33923"/>
                    <a:pt x="397911" y="1834"/>
                  </a:cubicBezTo>
                  <a:cubicBezTo>
                    <a:pt x="398828" y="917"/>
                    <a:pt x="400661" y="917"/>
                    <a:pt x="402495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27060">
                <a:gradFill flip="none" rotWithShape="1">
                  <a:gsLst>
                    <a:gs pos="37000">
                      <a:schemeClr val="accent1"/>
                    </a:gs>
                    <a:gs pos="57000">
                      <a:schemeClr val="accent2"/>
                    </a:gs>
                  </a:gsLst>
                  <a:lin ang="0" scaled="1"/>
                </a:gradFill>
                <a:latin typeface="方正字迹-龙吟体 简" panose="02000500000000000000" pitchFamily="2" charset="-122"/>
                <a:ea typeface="方正字迹-龙吟体 简" panose="02000500000000000000" pitchFamily="2" charset="-122"/>
              </a:endParaRPr>
            </a:p>
          </p:txBody>
        </p:sp>
      </p:grpSp>
      <p:grpSp>
        <p:nvGrpSpPr>
          <p:cNvPr id="94" name="组合 1036"/>
          <p:cNvGrpSpPr/>
          <p:nvPr/>
        </p:nvGrpSpPr>
        <p:grpSpPr>
          <a:xfrm>
            <a:off x="484238" y="1326993"/>
            <a:ext cx="3547853" cy="5105571"/>
            <a:chOff x="484238" y="1326993"/>
            <a:chExt cx="3547853" cy="5105571"/>
          </a:xfrm>
        </p:grpSpPr>
        <p:sp>
          <p:nvSpPr>
            <p:cNvPr id="1048769" name="Rectangle 21+"/>
            <p:cNvSpPr/>
            <p:nvPr>
              <p:custDataLst>
                <p:tags r:id="rId36"/>
              </p:custDataLst>
            </p:nvPr>
          </p:nvSpPr>
          <p:spPr>
            <a:xfrm rot="21394756">
              <a:off x="504559" y="1326993"/>
              <a:ext cx="3527532" cy="5105571"/>
            </a:xfrm>
            <a:prstGeom prst="rect">
              <a:avLst/>
            </a:prstGeom>
            <a:solidFill>
              <a:sysClr val="window" lastClr="FFFFFF"/>
            </a:solidFill>
            <a:ln w="15558" cap="flat" cmpd="sng" algn="ctr">
              <a:gradFill>
                <a:gsLst>
                  <a:gs pos="0">
                    <a:schemeClr val="accent2"/>
                  </a:gs>
                  <a:gs pos="96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lIns="89611" tIns="44806" rIns="89611" bIns="44806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endParaRPr kumimoji="0" lang="en-US" sz="1765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48770" name="矩形 65"/>
            <p:cNvSpPr/>
            <p:nvPr>
              <p:custDataLst>
                <p:tags r:id="rId37"/>
              </p:custDataLst>
            </p:nvPr>
          </p:nvSpPr>
          <p:spPr>
            <a:xfrm>
              <a:off x="504559" y="1326993"/>
              <a:ext cx="3527532" cy="5105571"/>
            </a:xfrm>
            <a:prstGeom prst="rect">
              <a:avLst/>
            </a:prstGeom>
            <a:solidFill>
              <a:sysClr val="window" lastClr="FFFFFF"/>
            </a:solidFill>
            <a:ln w="15558" cap="flat" cmpd="sng" algn="ctr">
              <a:gradFill>
                <a:gsLst>
                  <a:gs pos="0">
                    <a:schemeClr val="accent2"/>
                  </a:gs>
                  <a:gs pos="96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lIns="89611" tIns="44806" rIns="89611" bIns="44806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endParaRPr kumimoji="0" lang="en-US" sz="1765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48771" name="文本框 67"/>
            <p:cNvSpPr txBox="1"/>
            <p:nvPr>
              <p:custDataLst>
                <p:tags r:id="rId38"/>
              </p:custDataLst>
            </p:nvPr>
          </p:nvSpPr>
          <p:spPr>
            <a:xfrm>
              <a:off x="635848" y="2341476"/>
              <a:ext cx="3248772" cy="617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endParaRPr lang="zh-CN" altLang="en-US" sz="19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95" name="设计师康帅原创作品15"/>
            <p:cNvGrpSpPr/>
            <p:nvPr/>
          </p:nvGrpSpPr>
          <p:grpSpPr>
            <a:xfrm rot="543052" flipH="1">
              <a:off x="827483" y="1377708"/>
              <a:ext cx="937717" cy="924050"/>
              <a:chOff x="10269386" y="1454848"/>
              <a:chExt cx="1393389" cy="1373081"/>
            </a:xfrm>
          </p:grpSpPr>
          <p:sp>
            <p:nvSpPr>
              <p:cNvPr id="1048772" name="设计师康帅原创作品15-1"/>
              <p:cNvSpPr/>
              <p:nvPr>
                <p:custDataLst>
                  <p:tags r:id="rId53"/>
                </p:custDataLst>
              </p:nvPr>
            </p:nvSpPr>
            <p:spPr>
              <a:xfrm rot="20893364">
                <a:off x="11239661" y="1964790"/>
                <a:ext cx="284085" cy="284085"/>
              </a:xfrm>
              <a:prstGeom prst="star5">
                <a:avLst/>
              </a:prstGeom>
              <a:gradFill flip="none" rotWithShape="1">
                <a:gsLst>
                  <a:gs pos="0">
                    <a:srgbClr val="ECCBA1"/>
                  </a:gs>
                  <a:gs pos="98000">
                    <a:srgbClr val="EECEA5">
                      <a:lumMod val="64000"/>
                      <a:lumOff val="36000"/>
                      <a:alpha val="39000"/>
                    </a:srgb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dirty="0">
                  <a:solidFill>
                    <a:prstClr val="white"/>
                  </a:solidFill>
                  <a:latin typeface="Roboto Regular"/>
                  <a:ea typeface="思源黑体 CN Regular" panose="020B0500000000000000" charset="-122"/>
                </a:endParaRPr>
              </a:p>
            </p:txBody>
          </p:sp>
          <p:sp>
            <p:nvSpPr>
              <p:cNvPr id="1048773" name="设计师康帅原创作品15-2"/>
              <p:cNvSpPr/>
              <p:nvPr>
                <p:custDataLst>
                  <p:tags r:id="rId54"/>
                </p:custDataLst>
              </p:nvPr>
            </p:nvSpPr>
            <p:spPr>
              <a:xfrm rot="20893364">
                <a:off x="10853690" y="1637130"/>
                <a:ext cx="367081" cy="367081"/>
              </a:xfrm>
              <a:prstGeom prst="star5">
                <a:avLst/>
              </a:prstGeom>
              <a:gradFill flip="none" rotWithShape="1">
                <a:gsLst>
                  <a:gs pos="0">
                    <a:srgbClr val="ECCBA1"/>
                  </a:gs>
                  <a:gs pos="98000">
                    <a:srgbClr val="EECEA5">
                      <a:lumMod val="64000"/>
                      <a:lumOff val="36000"/>
                      <a:alpha val="39000"/>
                    </a:srgb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>
                  <a:solidFill>
                    <a:prstClr val="white"/>
                  </a:solidFill>
                  <a:latin typeface="Roboto Regular"/>
                  <a:ea typeface="思源黑体 CN Regular" panose="020B0500000000000000" charset="-122"/>
                </a:endParaRPr>
              </a:p>
            </p:txBody>
          </p:sp>
          <p:sp>
            <p:nvSpPr>
              <p:cNvPr id="1048774" name="设计师康帅原创作品15-3"/>
              <p:cNvSpPr/>
              <p:nvPr>
                <p:custDataLst>
                  <p:tags r:id="rId55"/>
                </p:custDataLst>
              </p:nvPr>
            </p:nvSpPr>
            <p:spPr>
              <a:xfrm rot="20893364">
                <a:off x="10269386" y="1454848"/>
                <a:ext cx="484596" cy="484595"/>
              </a:xfrm>
              <a:prstGeom prst="star5">
                <a:avLst/>
              </a:prstGeom>
              <a:gradFill flip="none" rotWithShape="1">
                <a:gsLst>
                  <a:gs pos="0">
                    <a:srgbClr val="ECCBA1"/>
                  </a:gs>
                  <a:gs pos="98000">
                    <a:srgbClr val="EECEA5">
                      <a:lumMod val="64000"/>
                      <a:lumOff val="36000"/>
                      <a:alpha val="39000"/>
                    </a:srgb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>
                  <a:solidFill>
                    <a:prstClr val="white"/>
                  </a:solidFill>
                  <a:latin typeface="Roboto Regular"/>
                  <a:ea typeface="思源黑体 CN Regular" panose="020B0500000000000000" charset="-122"/>
                </a:endParaRPr>
              </a:p>
            </p:txBody>
          </p:sp>
          <p:sp>
            <p:nvSpPr>
              <p:cNvPr id="1048775" name="设计师康帅原创作品15-4"/>
              <p:cNvSpPr/>
              <p:nvPr>
                <p:custDataLst>
                  <p:tags r:id="rId56"/>
                </p:custDataLst>
              </p:nvPr>
            </p:nvSpPr>
            <p:spPr>
              <a:xfrm rot="20893364">
                <a:off x="11414331" y="2339051"/>
                <a:ext cx="248444" cy="248443"/>
              </a:xfrm>
              <a:prstGeom prst="star5">
                <a:avLst/>
              </a:prstGeom>
              <a:gradFill flip="none" rotWithShape="1">
                <a:gsLst>
                  <a:gs pos="0">
                    <a:srgbClr val="ECCBA1"/>
                  </a:gs>
                  <a:gs pos="98000">
                    <a:srgbClr val="EECEA5">
                      <a:lumMod val="64000"/>
                      <a:lumOff val="36000"/>
                      <a:alpha val="39000"/>
                    </a:srgb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>
                  <a:solidFill>
                    <a:prstClr val="white"/>
                  </a:solidFill>
                  <a:latin typeface="Roboto Regular"/>
                  <a:ea typeface="思源黑体 CN Regular" panose="020B0500000000000000" charset="-122"/>
                </a:endParaRPr>
              </a:p>
            </p:txBody>
          </p:sp>
          <p:sp>
            <p:nvSpPr>
              <p:cNvPr id="1048776" name="设计师康帅原创作品15-5"/>
              <p:cNvSpPr/>
              <p:nvPr>
                <p:custDataLst>
                  <p:tags r:id="rId57"/>
                </p:custDataLst>
              </p:nvPr>
            </p:nvSpPr>
            <p:spPr>
              <a:xfrm rot="20893364">
                <a:off x="11318673" y="2649209"/>
                <a:ext cx="178721" cy="178720"/>
              </a:xfrm>
              <a:prstGeom prst="star5">
                <a:avLst/>
              </a:prstGeom>
              <a:gradFill flip="none" rotWithShape="1">
                <a:gsLst>
                  <a:gs pos="0">
                    <a:srgbClr val="ECCBA1"/>
                  </a:gs>
                  <a:gs pos="98000">
                    <a:srgbClr val="EECEA5">
                      <a:lumMod val="64000"/>
                      <a:lumOff val="36000"/>
                      <a:alpha val="39000"/>
                    </a:srgb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>
                  <a:solidFill>
                    <a:prstClr val="white"/>
                  </a:solidFill>
                  <a:latin typeface="Roboto Regular"/>
                  <a:ea typeface="思源黑体 CN Regular" panose="020B0500000000000000" charset="-122"/>
                </a:endParaRPr>
              </a:p>
            </p:txBody>
          </p:sp>
        </p:grpSp>
        <p:sp>
          <p:nvSpPr>
            <p:cNvPr id="1048777" name="任意多边形: 形状 1123"/>
            <p:cNvSpPr/>
            <p:nvPr>
              <p:custDataLst>
                <p:tags r:id="rId39"/>
              </p:custDataLst>
            </p:nvPr>
          </p:nvSpPr>
          <p:spPr>
            <a:xfrm>
              <a:off x="484238" y="1930376"/>
              <a:ext cx="1362075" cy="403546"/>
            </a:xfrm>
            <a:custGeom>
              <a:avLst/>
              <a:gdLst>
                <a:gd name="connsiteX0" fmla="*/ 0 w 1362075"/>
                <a:gd name="connsiteY0" fmla="*/ 109537 h 228600"/>
                <a:gd name="connsiteX1" fmla="*/ 1362075 w 1362075"/>
                <a:gd name="connsiteY1" fmla="*/ 0 h 228600"/>
                <a:gd name="connsiteX2" fmla="*/ 142875 w 1362075"/>
                <a:gd name="connsiteY2" fmla="*/ 228600 h 228600"/>
                <a:gd name="connsiteX3" fmla="*/ 161925 w 1362075"/>
                <a:gd name="connsiteY3" fmla="*/ 28575 h 228600"/>
                <a:gd name="connsiteX4" fmla="*/ 0 w 1362075"/>
                <a:gd name="connsiteY4" fmla="*/ 109537 h 228600"/>
                <a:gd name="connsiteX0-1" fmla="*/ 0 w 1362075"/>
                <a:gd name="connsiteY0-2" fmla="*/ 259793 h 378856"/>
                <a:gd name="connsiteX1-3" fmla="*/ 1362075 w 1362075"/>
                <a:gd name="connsiteY1-4" fmla="*/ 150256 h 378856"/>
                <a:gd name="connsiteX2-5" fmla="*/ 142875 w 1362075"/>
                <a:gd name="connsiteY2-6" fmla="*/ 378856 h 378856"/>
                <a:gd name="connsiteX3-7" fmla="*/ 161925 w 1362075"/>
                <a:gd name="connsiteY3-8" fmla="*/ 178831 h 378856"/>
                <a:gd name="connsiteX4-9" fmla="*/ 0 w 1362075"/>
                <a:gd name="connsiteY4-10" fmla="*/ 259793 h 378856"/>
                <a:gd name="connsiteX0-11" fmla="*/ 0 w 1362075"/>
                <a:gd name="connsiteY0-12" fmla="*/ 263560 h 382623"/>
                <a:gd name="connsiteX1-13" fmla="*/ 1362075 w 1362075"/>
                <a:gd name="connsiteY1-14" fmla="*/ 154023 h 382623"/>
                <a:gd name="connsiteX2-15" fmla="*/ 142875 w 1362075"/>
                <a:gd name="connsiteY2-16" fmla="*/ 382623 h 382623"/>
                <a:gd name="connsiteX3-17" fmla="*/ 161925 w 1362075"/>
                <a:gd name="connsiteY3-18" fmla="*/ 182598 h 382623"/>
                <a:gd name="connsiteX4-19" fmla="*/ 0 w 1362075"/>
                <a:gd name="connsiteY4-20" fmla="*/ 263560 h 382623"/>
                <a:gd name="connsiteX0-21" fmla="*/ 0 w 1362075"/>
                <a:gd name="connsiteY0-22" fmla="*/ 284483 h 403546"/>
                <a:gd name="connsiteX1-23" fmla="*/ 1362075 w 1362075"/>
                <a:gd name="connsiteY1-24" fmla="*/ 174946 h 403546"/>
                <a:gd name="connsiteX2-25" fmla="*/ 142875 w 1362075"/>
                <a:gd name="connsiteY2-26" fmla="*/ 403546 h 403546"/>
                <a:gd name="connsiteX3-27" fmla="*/ 161925 w 1362075"/>
                <a:gd name="connsiteY3-28" fmla="*/ 203521 h 403546"/>
                <a:gd name="connsiteX4-29" fmla="*/ 0 w 1362075"/>
                <a:gd name="connsiteY4-30" fmla="*/ 284483 h 403546"/>
                <a:gd name="connsiteX0-31" fmla="*/ 0 w 1362075"/>
                <a:gd name="connsiteY0-32" fmla="*/ 284483 h 403546"/>
                <a:gd name="connsiteX1-33" fmla="*/ 1362075 w 1362075"/>
                <a:gd name="connsiteY1-34" fmla="*/ 174946 h 403546"/>
                <a:gd name="connsiteX2-35" fmla="*/ 142875 w 1362075"/>
                <a:gd name="connsiteY2-36" fmla="*/ 403546 h 403546"/>
                <a:gd name="connsiteX3-37" fmla="*/ 161925 w 1362075"/>
                <a:gd name="connsiteY3-38" fmla="*/ 203521 h 403546"/>
                <a:gd name="connsiteX4-39" fmla="*/ 0 w 1362075"/>
                <a:gd name="connsiteY4-40" fmla="*/ 284483 h 403546"/>
                <a:gd name="connsiteX0-41" fmla="*/ 0 w 1362075"/>
                <a:gd name="connsiteY0-42" fmla="*/ 284483 h 403546"/>
                <a:gd name="connsiteX1-43" fmla="*/ 1362075 w 1362075"/>
                <a:gd name="connsiteY1-44" fmla="*/ 174946 h 403546"/>
                <a:gd name="connsiteX2-45" fmla="*/ 142875 w 1362075"/>
                <a:gd name="connsiteY2-46" fmla="*/ 403546 h 403546"/>
                <a:gd name="connsiteX3-47" fmla="*/ 161925 w 1362075"/>
                <a:gd name="connsiteY3-48" fmla="*/ 203521 h 403546"/>
                <a:gd name="connsiteX4-49" fmla="*/ 0 w 1362075"/>
                <a:gd name="connsiteY4-50" fmla="*/ 284483 h 403546"/>
                <a:gd name="connsiteX0-51" fmla="*/ 0 w 1362075"/>
                <a:gd name="connsiteY0-52" fmla="*/ 284483 h 403546"/>
                <a:gd name="connsiteX1-53" fmla="*/ 1362075 w 1362075"/>
                <a:gd name="connsiteY1-54" fmla="*/ 174946 h 403546"/>
                <a:gd name="connsiteX2-55" fmla="*/ 142875 w 1362075"/>
                <a:gd name="connsiteY2-56" fmla="*/ 403546 h 403546"/>
                <a:gd name="connsiteX3-57" fmla="*/ 161925 w 1362075"/>
                <a:gd name="connsiteY3-58" fmla="*/ 203521 h 403546"/>
                <a:gd name="connsiteX4-59" fmla="*/ 0 w 1362075"/>
                <a:gd name="connsiteY4-60" fmla="*/ 284483 h 403546"/>
                <a:gd name="connsiteX0-61" fmla="*/ 0 w 1362075"/>
                <a:gd name="connsiteY0-62" fmla="*/ 284483 h 403546"/>
                <a:gd name="connsiteX1-63" fmla="*/ 1362075 w 1362075"/>
                <a:gd name="connsiteY1-64" fmla="*/ 174946 h 403546"/>
                <a:gd name="connsiteX2-65" fmla="*/ 142875 w 1362075"/>
                <a:gd name="connsiteY2-66" fmla="*/ 403546 h 403546"/>
                <a:gd name="connsiteX3-67" fmla="*/ 161925 w 1362075"/>
                <a:gd name="connsiteY3-68" fmla="*/ 203521 h 403546"/>
                <a:gd name="connsiteX4-69" fmla="*/ 0 w 1362075"/>
                <a:gd name="connsiteY4-70" fmla="*/ 284483 h 403546"/>
                <a:gd name="connsiteX0-71" fmla="*/ 0 w 1362075"/>
                <a:gd name="connsiteY0-72" fmla="*/ 284483 h 403546"/>
                <a:gd name="connsiteX1-73" fmla="*/ 1362075 w 1362075"/>
                <a:gd name="connsiteY1-74" fmla="*/ 174946 h 403546"/>
                <a:gd name="connsiteX2-75" fmla="*/ 142875 w 1362075"/>
                <a:gd name="connsiteY2-76" fmla="*/ 403546 h 403546"/>
                <a:gd name="connsiteX3-77" fmla="*/ 161925 w 1362075"/>
                <a:gd name="connsiteY3-78" fmla="*/ 203521 h 403546"/>
                <a:gd name="connsiteX4-79" fmla="*/ 0 w 1362075"/>
                <a:gd name="connsiteY4-80" fmla="*/ 284483 h 403546"/>
                <a:gd name="connsiteX0-81" fmla="*/ 0 w 1362075"/>
                <a:gd name="connsiteY0-82" fmla="*/ 284483 h 403546"/>
                <a:gd name="connsiteX1-83" fmla="*/ 1362075 w 1362075"/>
                <a:gd name="connsiteY1-84" fmla="*/ 174946 h 403546"/>
                <a:gd name="connsiteX2-85" fmla="*/ 142875 w 1362075"/>
                <a:gd name="connsiteY2-86" fmla="*/ 403546 h 403546"/>
                <a:gd name="connsiteX3-87" fmla="*/ 161925 w 1362075"/>
                <a:gd name="connsiteY3-88" fmla="*/ 203521 h 403546"/>
                <a:gd name="connsiteX4-89" fmla="*/ 0 w 1362075"/>
                <a:gd name="connsiteY4-90" fmla="*/ 284483 h 403546"/>
                <a:gd name="connsiteX0-91" fmla="*/ 0 w 1362075"/>
                <a:gd name="connsiteY0-92" fmla="*/ 284483 h 403546"/>
                <a:gd name="connsiteX1-93" fmla="*/ 1362075 w 1362075"/>
                <a:gd name="connsiteY1-94" fmla="*/ 174946 h 403546"/>
                <a:gd name="connsiteX2-95" fmla="*/ 142875 w 1362075"/>
                <a:gd name="connsiteY2-96" fmla="*/ 403546 h 403546"/>
                <a:gd name="connsiteX3-97" fmla="*/ 161925 w 1362075"/>
                <a:gd name="connsiteY3-98" fmla="*/ 203521 h 403546"/>
                <a:gd name="connsiteX4-99" fmla="*/ 0 w 1362075"/>
                <a:gd name="connsiteY4-100" fmla="*/ 284483 h 403546"/>
                <a:gd name="connsiteX0-101" fmla="*/ 0 w 1362075"/>
                <a:gd name="connsiteY0-102" fmla="*/ 284483 h 403546"/>
                <a:gd name="connsiteX1-103" fmla="*/ 1362075 w 1362075"/>
                <a:gd name="connsiteY1-104" fmla="*/ 174946 h 403546"/>
                <a:gd name="connsiteX2-105" fmla="*/ 142875 w 1362075"/>
                <a:gd name="connsiteY2-106" fmla="*/ 403546 h 403546"/>
                <a:gd name="connsiteX3-107" fmla="*/ 161925 w 1362075"/>
                <a:gd name="connsiteY3-108" fmla="*/ 203521 h 403546"/>
                <a:gd name="connsiteX4-109" fmla="*/ 0 w 1362075"/>
                <a:gd name="connsiteY4-110" fmla="*/ 284483 h 403546"/>
                <a:gd name="connsiteX0-111" fmla="*/ 0 w 1362075"/>
                <a:gd name="connsiteY0-112" fmla="*/ 284483 h 403546"/>
                <a:gd name="connsiteX1-113" fmla="*/ 1362075 w 1362075"/>
                <a:gd name="connsiteY1-114" fmla="*/ 174946 h 403546"/>
                <a:gd name="connsiteX2-115" fmla="*/ 142875 w 1362075"/>
                <a:gd name="connsiteY2-116" fmla="*/ 403546 h 403546"/>
                <a:gd name="connsiteX3-117" fmla="*/ 161925 w 1362075"/>
                <a:gd name="connsiteY3-118" fmla="*/ 203521 h 403546"/>
                <a:gd name="connsiteX4-119" fmla="*/ 0 w 1362075"/>
                <a:gd name="connsiteY4-120" fmla="*/ 284483 h 40354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2075" h="403546">
                  <a:moveTo>
                    <a:pt x="0" y="284483"/>
                  </a:moveTo>
                  <a:cubicBezTo>
                    <a:pt x="332581" y="-297336"/>
                    <a:pt x="974725" y="197170"/>
                    <a:pt x="1362075" y="174946"/>
                  </a:cubicBezTo>
                  <a:cubicBezTo>
                    <a:pt x="798513" y="424977"/>
                    <a:pt x="432593" y="96364"/>
                    <a:pt x="142875" y="403546"/>
                  </a:cubicBezTo>
                  <a:cubicBezTo>
                    <a:pt x="106362" y="332109"/>
                    <a:pt x="134144" y="265433"/>
                    <a:pt x="161925" y="203521"/>
                  </a:cubicBezTo>
                  <a:cubicBezTo>
                    <a:pt x="103187" y="211458"/>
                    <a:pt x="53975" y="243208"/>
                    <a:pt x="0" y="284483"/>
                  </a:cubicBezTo>
                  <a:close/>
                </a:path>
              </a:pathLst>
            </a:custGeom>
            <a:gradFill flip="none" rotWithShape="1">
              <a:gsLst>
                <a:gs pos="32000">
                  <a:srgbClr val="E00E0C"/>
                </a:gs>
                <a:gs pos="63000">
                  <a:srgbClr val="F08621"/>
                </a:gs>
                <a:gs pos="100000">
                  <a:srgbClr val="F08621">
                    <a:alpha val="0"/>
                  </a:srgbClr>
                </a:gs>
              </a:gsLst>
              <a:lin ang="19200000" scaled="0"/>
            </a:gradFill>
            <a:ln w="6350" cap="flat" cmpd="sng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+mn-cs"/>
              </a:endParaRPr>
            </a:p>
          </p:txBody>
        </p:sp>
        <p:sp>
          <p:nvSpPr>
            <p:cNvPr id="1048778" name="任意多边形: 形状 1126"/>
            <p:cNvSpPr/>
            <p:nvPr>
              <p:custDataLst>
                <p:tags r:id="rId40"/>
              </p:custDataLst>
            </p:nvPr>
          </p:nvSpPr>
          <p:spPr>
            <a:xfrm flipV="1">
              <a:off x="2722753" y="1506072"/>
              <a:ext cx="1164167" cy="634985"/>
            </a:xfrm>
            <a:custGeom>
              <a:avLst/>
              <a:gdLst>
                <a:gd name="connsiteX0" fmla="*/ 0 w 1752600"/>
                <a:gd name="connsiteY0" fmla="*/ 0 h 619125"/>
                <a:gd name="connsiteX1" fmla="*/ 1752600 w 1752600"/>
                <a:gd name="connsiteY1" fmla="*/ 447675 h 619125"/>
                <a:gd name="connsiteX2" fmla="*/ 1504950 w 1752600"/>
                <a:gd name="connsiteY2" fmla="*/ 528637 h 619125"/>
                <a:gd name="connsiteX3" fmla="*/ 1657350 w 1752600"/>
                <a:gd name="connsiteY3" fmla="*/ 619125 h 619125"/>
                <a:gd name="connsiteX4" fmla="*/ 0 w 1752600"/>
                <a:gd name="connsiteY4" fmla="*/ 0 h 619125"/>
                <a:gd name="connsiteX0-1" fmla="*/ 0 w 1752600"/>
                <a:gd name="connsiteY0-2" fmla="*/ 62082 h 681207"/>
                <a:gd name="connsiteX1-3" fmla="*/ 1752600 w 1752600"/>
                <a:gd name="connsiteY1-4" fmla="*/ 509757 h 681207"/>
                <a:gd name="connsiteX2-5" fmla="*/ 1504950 w 1752600"/>
                <a:gd name="connsiteY2-6" fmla="*/ 590719 h 681207"/>
                <a:gd name="connsiteX3-7" fmla="*/ 1657350 w 1752600"/>
                <a:gd name="connsiteY3-8" fmla="*/ 681207 h 681207"/>
                <a:gd name="connsiteX4-9" fmla="*/ 0 w 1752600"/>
                <a:gd name="connsiteY4-10" fmla="*/ 62082 h 681207"/>
                <a:gd name="connsiteX0-11" fmla="*/ 0 w 1752600"/>
                <a:gd name="connsiteY0-12" fmla="*/ 46581 h 665706"/>
                <a:gd name="connsiteX1-13" fmla="*/ 1752600 w 1752600"/>
                <a:gd name="connsiteY1-14" fmla="*/ 494256 h 665706"/>
                <a:gd name="connsiteX2-15" fmla="*/ 1504950 w 1752600"/>
                <a:gd name="connsiteY2-16" fmla="*/ 575218 h 665706"/>
                <a:gd name="connsiteX3-17" fmla="*/ 1657350 w 1752600"/>
                <a:gd name="connsiteY3-18" fmla="*/ 665706 h 665706"/>
                <a:gd name="connsiteX4-19" fmla="*/ 0 w 1752600"/>
                <a:gd name="connsiteY4-20" fmla="*/ 46581 h 665706"/>
                <a:gd name="connsiteX0-21" fmla="*/ 0 w 1752600"/>
                <a:gd name="connsiteY0-22" fmla="*/ 46581 h 665706"/>
                <a:gd name="connsiteX1-23" fmla="*/ 1752600 w 1752600"/>
                <a:gd name="connsiteY1-24" fmla="*/ 494256 h 665706"/>
                <a:gd name="connsiteX2-25" fmla="*/ 1504950 w 1752600"/>
                <a:gd name="connsiteY2-26" fmla="*/ 575218 h 665706"/>
                <a:gd name="connsiteX3-27" fmla="*/ 1657350 w 1752600"/>
                <a:gd name="connsiteY3-28" fmla="*/ 665706 h 665706"/>
                <a:gd name="connsiteX4-29" fmla="*/ 0 w 1752600"/>
                <a:gd name="connsiteY4-30" fmla="*/ 46581 h 665706"/>
                <a:gd name="connsiteX0-31" fmla="*/ 0 w 1752600"/>
                <a:gd name="connsiteY0-32" fmla="*/ 46581 h 665706"/>
                <a:gd name="connsiteX1-33" fmla="*/ 1752600 w 1752600"/>
                <a:gd name="connsiteY1-34" fmla="*/ 494256 h 665706"/>
                <a:gd name="connsiteX2-35" fmla="*/ 1504950 w 1752600"/>
                <a:gd name="connsiteY2-36" fmla="*/ 575218 h 665706"/>
                <a:gd name="connsiteX3-37" fmla="*/ 1657350 w 1752600"/>
                <a:gd name="connsiteY3-38" fmla="*/ 665706 h 665706"/>
                <a:gd name="connsiteX4-39" fmla="*/ 0 w 1752600"/>
                <a:gd name="connsiteY4-40" fmla="*/ 46581 h 665706"/>
                <a:gd name="connsiteX0-41" fmla="*/ 0 w 1752600"/>
                <a:gd name="connsiteY0-42" fmla="*/ 46581 h 665706"/>
                <a:gd name="connsiteX1-43" fmla="*/ 1752600 w 1752600"/>
                <a:gd name="connsiteY1-44" fmla="*/ 494256 h 665706"/>
                <a:gd name="connsiteX2-45" fmla="*/ 1504950 w 1752600"/>
                <a:gd name="connsiteY2-46" fmla="*/ 575218 h 665706"/>
                <a:gd name="connsiteX3-47" fmla="*/ 1657350 w 1752600"/>
                <a:gd name="connsiteY3-48" fmla="*/ 665706 h 665706"/>
                <a:gd name="connsiteX4-49" fmla="*/ 0 w 1752600"/>
                <a:gd name="connsiteY4-50" fmla="*/ 46581 h 665706"/>
                <a:gd name="connsiteX0-51" fmla="*/ 0 w 1752600"/>
                <a:gd name="connsiteY0-52" fmla="*/ 46581 h 665706"/>
                <a:gd name="connsiteX1-53" fmla="*/ 1752600 w 1752600"/>
                <a:gd name="connsiteY1-54" fmla="*/ 494256 h 665706"/>
                <a:gd name="connsiteX2-55" fmla="*/ 1504950 w 1752600"/>
                <a:gd name="connsiteY2-56" fmla="*/ 575218 h 665706"/>
                <a:gd name="connsiteX3-57" fmla="*/ 1657350 w 1752600"/>
                <a:gd name="connsiteY3-58" fmla="*/ 665706 h 665706"/>
                <a:gd name="connsiteX4-59" fmla="*/ 0 w 1752600"/>
                <a:gd name="connsiteY4-60" fmla="*/ 46581 h 665706"/>
                <a:gd name="connsiteX0-61" fmla="*/ 0 w 1752600"/>
                <a:gd name="connsiteY0-62" fmla="*/ 46581 h 676156"/>
                <a:gd name="connsiteX1-63" fmla="*/ 1752600 w 1752600"/>
                <a:gd name="connsiteY1-64" fmla="*/ 494256 h 676156"/>
                <a:gd name="connsiteX2-65" fmla="*/ 1504950 w 1752600"/>
                <a:gd name="connsiteY2-66" fmla="*/ 575218 h 676156"/>
                <a:gd name="connsiteX3-67" fmla="*/ 1657350 w 1752600"/>
                <a:gd name="connsiteY3-68" fmla="*/ 665706 h 676156"/>
                <a:gd name="connsiteX4-69" fmla="*/ 0 w 1752600"/>
                <a:gd name="connsiteY4-70" fmla="*/ 46581 h 676156"/>
                <a:gd name="connsiteX0-71" fmla="*/ 0 w 1752600"/>
                <a:gd name="connsiteY0-72" fmla="*/ 46581 h 673539"/>
                <a:gd name="connsiteX1-73" fmla="*/ 1752600 w 1752600"/>
                <a:gd name="connsiteY1-74" fmla="*/ 494256 h 673539"/>
                <a:gd name="connsiteX2-75" fmla="*/ 1504950 w 1752600"/>
                <a:gd name="connsiteY2-76" fmla="*/ 575218 h 673539"/>
                <a:gd name="connsiteX3-77" fmla="*/ 1657350 w 1752600"/>
                <a:gd name="connsiteY3-78" fmla="*/ 665706 h 673539"/>
                <a:gd name="connsiteX4-79" fmla="*/ 0 w 1752600"/>
                <a:gd name="connsiteY4-80" fmla="*/ 46581 h 673539"/>
                <a:gd name="connsiteX0-81" fmla="*/ 0 w 1752600"/>
                <a:gd name="connsiteY0-82" fmla="*/ 46581 h 672797"/>
                <a:gd name="connsiteX1-83" fmla="*/ 1752600 w 1752600"/>
                <a:gd name="connsiteY1-84" fmla="*/ 494256 h 672797"/>
                <a:gd name="connsiteX2-85" fmla="*/ 1504950 w 1752600"/>
                <a:gd name="connsiteY2-86" fmla="*/ 575218 h 672797"/>
                <a:gd name="connsiteX3-87" fmla="*/ 1657350 w 1752600"/>
                <a:gd name="connsiteY3-88" fmla="*/ 665706 h 672797"/>
                <a:gd name="connsiteX4-89" fmla="*/ 0 w 1752600"/>
                <a:gd name="connsiteY4-90" fmla="*/ 46581 h 672797"/>
                <a:gd name="connsiteX0-91" fmla="*/ 0 w 1752600"/>
                <a:gd name="connsiteY0-92" fmla="*/ 46581 h 672774"/>
                <a:gd name="connsiteX1-93" fmla="*/ 1752600 w 1752600"/>
                <a:gd name="connsiteY1-94" fmla="*/ 494256 h 672774"/>
                <a:gd name="connsiteX2-95" fmla="*/ 1504950 w 1752600"/>
                <a:gd name="connsiteY2-96" fmla="*/ 575218 h 672774"/>
                <a:gd name="connsiteX3-97" fmla="*/ 1657350 w 1752600"/>
                <a:gd name="connsiteY3-98" fmla="*/ 665706 h 672774"/>
                <a:gd name="connsiteX4-99" fmla="*/ 0 w 1752600"/>
                <a:gd name="connsiteY4-100" fmla="*/ 46581 h 672774"/>
                <a:gd name="connsiteX0-101" fmla="*/ 0 w 1752600"/>
                <a:gd name="connsiteY0-102" fmla="*/ 46581 h 673895"/>
                <a:gd name="connsiteX1-103" fmla="*/ 1752600 w 1752600"/>
                <a:gd name="connsiteY1-104" fmla="*/ 494256 h 673895"/>
                <a:gd name="connsiteX2-105" fmla="*/ 1504950 w 1752600"/>
                <a:gd name="connsiteY2-106" fmla="*/ 575218 h 673895"/>
                <a:gd name="connsiteX3-107" fmla="*/ 1657350 w 1752600"/>
                <a:gd name="connsiteY3-108" fmla="*/ 665706 h 673895"/>
                <a:gd name="connsiteX4-109" fmla="*/ 0 w 1752600"/>
                <a:gd name="connsiteY4-110" fmla="*/ 46581 h 6738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52600" h="673895">
                  <a:moveTo>
                    <a:pt x="0" y="46581"/>
                  </a:moveTo>
                  <a:cubicBezTo>
                    <a:pt x="889000" y="-197101"/>
                    <a:pt x="1196975" y="599825"/>
                    <a:pt x="1752600" y="494256"/>
                  </a:cubicBezTo>
                  <a:cubicBezTo>
                    <a:pt x="1703388" y="559343"/>
                    <a:pt x="1587500" y="545850"/>
                    <a:pt x="1504950" y="575218"/>
                  </a:cubicBezTo>
                  <a:cubicBezTo>
                    <a:pt x="1529556" y="607763"/>
                    <a:pt x="1627981" y="628400"/>
                    <a:pt x="1657350" y="665706"/>
                  </a:cubicBezTo>
                  <a:cubicBezTo>
                    <a:pt x="773906" y="756987"/>
                    <a:pt x="714374" y="55313"/>
                    <a:pt x="0" y="46581"/>
                  </a:cubicBezTo>
                  <a:close/>
                </a:path>
              </a:pathLst>
            </a:custGeom>
            <a:gradFill flip="none" rotWithShape="1">
              <a:gsLst>
                <a:gs pos="32000">
                  <a:srgbClr val="E00E0C"/>
                </a:gs>
                <a:gs pos="63000">
                  <a:srgbClr val="F08621"/>
                </a:gs>
                <a:gs pos="100000">
                  <a:srgbClr val="F08621">
                    <a:alpha val="0"/>
                  </a:srgbClr>
                </a:gs>
              </a:gsLst>
              <a:lin ang="13800000" scaled="0"/>
            </a:gradFill>
            <a:ln w="6350" cap="flat" cmpd="sng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+mn-cs"/>
              </a:endParaRPr>
            </a:p>
          </p:txBody>
        </p:sp>
        <p:grpSp>
          <p:nvGrpSpPr>
            <p:cNvPr id="96" name="组合 89"/>
            <p:cNvGrpSpPr/>
            <p:nvPr>
              <p:custDataLst>
                <p:tags r:id="rId41"/>
              </p:custDataLst>
            </p:nvPr>
          </p:nvGrpSpPr>
          <p:grpSpPr>
            <a:xfrm>
              <a:off x="1003410" y="1703873"/>
              <a:ext cx="2486085" cy="594056"/>
              <a:chOff x="6735232" y="4134975"/>
              <a:chExt cx="2486085" cy="594056"/>
            </a:xfrm>
          </p:grpSpPr>
          <p:sp>
            <p:nvSpPr>
              <p:cNvPr id="1048779" name="矩形: 圆角 23"/>
              <p:cNvSpPr/>
              <p:nvPr>
                <p:custDataLst>
                  <p:tags r:id="rId51"/>
                </p:custDataLst>
              </p:nvPr>
            </p:nvSpPr>
            <p:spPr>
              <a:xfrm flipV="1">
                <a:off x="6735232" y="4218089"/>
                <a:ext cx="2486085" cy="424356"/>
              </a:xfrm>
              <a:prstGeom prst="roundRect">
                <a:avLst>
                  <a:gd name="adj" fmla="val 50000"/>
                </a:avLst>
              </a:prstGeom>
              <a:solidFill>
                <a:sysClr val="window" lastClr="FFFFFF"/>
              </a:solidFill>
              <a:ln w="27432" cap="flat" cmpd="sng" algn="ctr">
                <a:gradFill>
                  <a:gsLst>
                    <a:gs pos="0">
                      <a:srgbClr val="C00000"/>
                    </a:gs>
                    <a:gs pos="92000">
                      <a:schemeClr val="accent2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54864" dist="41148" dir="5400000" algn="t" rotWithShape="0">
                  <a:schemeClr val="accent2">
                    <a:alpha val="40000"/>
                  </a:schemeClr>
                </a:outerShdw>
              </a:effectLst>
            </p:spPr>
            <p:txBody>
              <a:bodyPr lIns="98755" tIns="49378" rIns="98755" bIns="49378" rtlCol="0" anchor="ctr"/>
              <a:lstStyle/>
              <a:p>
                <a:pPr algn="ctr"/>
                <a:endParaRPr lang="zh-CN" altLang="en-US" sz="1945" kern="0">
                  <a:solidFill>
                    <a:prstClr val="white"/>
                  </a:solidFill>
                  <a:latin typeface="Arial Narrow" panose="020B0606020202030204"/>
                  <a:ea typeface="微软雅黑" panose="020B0503020204020204" charset="-122"/>
                </a:endParaRPr>
              </a:p>
            </p:txBody>
          </p:sp>
          <p:sp>
            <p:nvSpPr>
              <p:cNvPr id="1048780" name="文本框 96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6912922" y="4136077"/>
                <a:ext cx="2085975" cy="590550"/>
              </a:xfrm>
              <a:prstGeom prst="rect">
                <a:avLst/>
              </a:prstGeom>
              <a:noFill/>
              <a:effectLst/>
            </p:spPr>
            <p:txBody>
              <a:bodyPr vert="horz" wrap="none" lIns="0" tIns="0" rIns="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2550" b="1" i="0">
                    <a:solidFill>
                      <a:srgbClr val="B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帮扶案例</a:t>
                </a:r>
                <a:endParaRPr lang="zh-CN" sz="2550"/>
              </a:p>
            </p:txBody>
          </p:sp>
        </p:grpSp>
        <p:cxnSp>
          <p:nvCxnSpPr>
            <p:cNvPr id="3145742" name="直接连接符 1143"/>
            <p:cNvCxnSpPr/>
            <p:nvPr>
              <p:custDataLst>
                <p:tags r:id="rId42"/>
              </p:custDataLst>
            </p:nvPr>
          </p:nvCxnSpPr>
          <p:spPr>
            <a:xfrm>
              <a:off x="698191" y="2861866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3" name="Straight Connector 1143+"/>
            <p:cNvCxnSpPr/>
            <p:nvPr>
              <p:custDataLst>
                <p:tags r:id="rId43"/>
              </p:custDataLst>
            </p:nvPr>
          </p:nvCxnSpPr>
          <p:spPr>
            <a:xfrm>
              <a:off x="698191" y="3275622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4" name="Straight Connector 1143++"/>
            <p:cNvCxnSpPr/>
            <p:nvPr>
              <p:custDataLst>
                <p:tags r:id="rId44"/>
              </p:custDataLst>
            </p:nvPr>
          </p:nvCxnSpPr>
          <p:spPr>
            <a:xfrm>
              <a:off x="698191" y="4144500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5" name="Straight Connector 1143+"/>
            <p:cNvCxnSpPr/>
            <p:nvPr>
              <p:custDataLst>
                <p:tags r:id="rId45"/>
              </p:custDataLst>
            </p:nvPr>
          </p:nvCxnSpPr>
          <p:spPr>
            <a:xfrm>
              <a:off x="698191" y="3730744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6" name="Straight Connector 1143+++"/>
            <p:cNvCxnSpPr/>
            <p:nvPr>
              <p:custDataLst>
                <p:tags r:id="rId46"/>
              </p:custDataLst>
            </p:nvPr>
          </p:nvCxnSpPr>
          <p:spPr>
            <a:xfrm>
              <a:off x="698191" y="5886411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7" name="Straight Connector 1143++"/>
            <p:cNvCxnSpPr/>
            <p:nvPr>
              <p:custDataLst>
                <p:tags r:id="rId47"/>
              </p:custDataLst>
            </p:nvPr>
          </p:nvCxnSpPr>
          <p:spPr>
            <a:xfrm>
              <a:off x="698191" y="5472655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8" name="Straight Connector 1143++"/>
            <p:cNvCxnSpPr/>
            <p:nvPr>
              <p:custDataLst>
                <p:tags r:id="rId48"/>
              </p:custDataLst>
            </p:nvPr>
          </p:nvCxnSpPr>
          <p:spPr>
            <a:xfrm>
              <a:off x="698191" y="5017533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49" name="Straight Connector 1143+"/>
            <p:cNvCxnSpPr/>
            <p:nvPr>
              <p:custDataLst>
                <p:tags r:id="rId49"/>
              </p:custDataLst>
            </p:nvPr>
          </p:nvCxnSpPr>
          <p:spPr>
            <a:xfrm>
              <a:off x="698191" y="4603777"/>
              <a:ext cx="315516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781" name="矩形: 圆角 1164"/>
            <p:cNvSpPr/>
            <p:nvPr>
              <p:custDataLst>
                <p:tags r:id="rId50"/>
              </p:custDataLst>
            </p:nvPr>
          </p:nvSpPr>
          <p:spPr>
            <a:xfrm flipV="1">
              <a:off x="1864505" y="6196372"/>
              <a:ext cx="791458" cy="45719"/>
            </a:xfrm>
            <a:prstGeom prst="roundRect">
              <a:avLst>
                <a:gd name="adj" fmla="val 50000"/>
              </a:avLst>
            </a:prstGeom>
            <a:solidFill>
              <a:srgbClr val="3C8F56"/>
            </a:solidFill>
            <a:ln w="27432" cap="flat" cmpd="sng" algn="ctr">
              <a:noFill/>
              <a:prstDash val="solid"/>
              <a:miter lim="800000"/>
            </a:ln>
            <a:effectLst>
              <a:outerShdw blurRad="54864" dist="41148" dir="5400000" algn="t" rotWithShape="0">
                <a:schemeClr val="accent2">
                  <a:alpha val="40000"/>
                </a:schemeClr>
              </a:outerShdw>
            </a:effectLst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 kern="0">
                <a:solidFill>
                  <a:prstClr val="white"/>
                </a:solidFill>
                <a:latin typeface="Arial Narrow" panose="020B0606020202030204"/>
                <a:ea typeface="微软雅黑" panose="020B0503020204020204" charset="-122"/>
              </a:endParaRPr>
            </a:p>
          </p:txBody>
        </p:sp>
      </p:grpSp>
      <p:grpSp>
        <p:nvGrpSpPr>
          <p:cNvPr id="97" name="组合 1037"/>
          <p:cNvGrpSpPr/>
          <p:nvPr/>
        </p:nvGrpSpPr>
        <p:grpSpPr>
          <a:xfrm>
            <a:off x="4320193" y="5623413"/>
            <a:ext cx="7569855" cy="874455"/>
            <a:chOff x="4320193" y="5623413"/>
            <a:chExt cx="7569855" cy="874455"/>
          </a:xfrm>
        </p:grpSpPr>
        <p:sp>
          <p:nvSpPr>
            <p:cNvPr id="1048782" name="矩形: 圆角 1029"/>
            <p:cNvSpPr/>
            <p:nvPr>
              <p:custDataLst>
                <p:tags r:id="rId33"/>
              </p:custDataLst>
            </p:nvPr>
          </p:nvSpPr>
          <p:spPr>
            <a:xfrm flipV="1">
              <a:off x="4320193" y="5623413"/>
              <a:ext cx="7569855" cy="809149"/>
            </a:xfrm>
            <a:prstGeom prst="roundRect">
              <a:avLst>
                <a:gd name="adj" fmla="val 10464"/>
              </a:avLst>
            </a:prstGeom>
            <a:solidFill>
              <a:sysClr val="window" lastClr="FFFFFF"/>
            </a:solidFill>
            <a:ln w="27432" cap="flat" cmpd="sng" algn="ctr">
              <a:solidFill>
                <a:srgbClr val="C00000"/>
              </a:solidFill>
              <a:prstDash val="solid"/>
              <a:miter lim="800000"/>
            </a:ln>
            <a:effectLst>
              <a:outerShdw blurRad="54864" dist="41148" dir="5400000" algn="t" rotWithShape="0">
                <a:schemeClr val="accent2">
                  <a:alpha val="40000"/>
                </a:schemeClr>
              </a:outerShdw>
            </a:effectLst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 kern="0">
                <a:solidFill>
                  <a:schemeClr val="accent2"/>
                </a:solidFill>
                <a:latin typeface="Arial Narrow" panose="020B0606020202030204"/>
                <a:ea typeface="微软雅黑" panose="020B0503020204020204" charset="-122"/>
              </a:endParaRPr>
            </a:p>
          </p:txBody>
        </p:sp>
        <p:sp>
          <p:nvSpPr>
            <p:cNvPr id="1048783" name="文本框 1030"/>
            <p:cNvSpPr txBox="1"/>
            <p:nvPr>
              <p:custDataLst>
                <p:tags r:id="rId34"/>
              </p:custDataLst>
            </p:nvPr>
          </p:nvSpPr>
          <p:spPr>
            <a:xfrm>
              <a:off x="4933950" y="5734050"/>
              <a:ext cx="2038350" cy="6286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800" b="1" i="0">
                  <a:solidFill>
                    <a:srgbClr val="B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测算结果</a:t>
              </a:r>
            </a:p>
          </p:txBody>
        </p:sp>
        <p:sp>
          <p:nvSpPr>
            <p:cNvPr id="1048784" name="文本框 1032"/>
            <p:cNvSpPr txBox="1"/>
            <p:nvPr>
              <p:custDataLst>
                <p:tags r:id="rId35"/>
              </p:custDataLst>
            </p:nvPr>
          </p:nvSpPr>
          <p:spPr>
            <a:xfrm>
              <a:off x="7334250" y="5772150"/>
              <a:ext cx="4467225" cy="60007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500" b="0" i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樱桃年销售收入3万元增至9.4万元，增加6.4万元。</a:t>
              </a: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500" b="0" i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不含务工、种粮收入，未扣成本，非实测成效。</a:t>
              </a:r>
            </a:p>
          </p:txBody>
        </p:sp>
      </p:grpSp>
      <p:grpSp>
        <p:nvGrpSpPr>
          <p:cNvPr id="98" name="组合 92"/>
          <p:cNvGrpSpPr/>
          <p:nvPr/>
        </p:nvGrpSpPr>
        <p:grpSpPr>
          <a:xfrm>
            <a:off x="4492250" y="3134595"/>
            <a:ext cx="3354621" cy="457855"/>
            <a:chOff x="4492250" y="3134595"/>
            <a:chExt cx="3354621" cy="457855"/>
          </a:xfrm>
        </p:grpSpPr>
        <p:sp>
          <p:nvSpPr>
            <p:cNvPr id="1048785" name="矩形: 圆角 90"/>
            <p:cNvSpPr/>
            <p:nvPr>
              <p:custDataLst>
                <p:tags r:id="rId31"/>
              </p:custDataLst>
            </p:nvPr>
          </p:nvSpPr>
          <p:spPr>
            <a:xfrm flipV="1">
              <a:off x="4519123" y="3134595"/>
              <a:ext cx="3300875" cy="424356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27432" cap="flat" cmpd="sng" algn="ctr">
              <a:solidFill>
                <a:srgbClr val="C00000"/>
              </a:solidFill>
              <a:prstDash val="solid"/>
              <a:miter lim="800000"/>
            </a:ln>
            <a:effectLst>
              <a:outerShdw blurRad="54864" dist="41148" dir="5400000" algn="t" rotWithShape="0">
                <a:schemeClr val="accent2">
                  <a:alpha val="40000"/>
                </a:schemeClr>
              </a:outerShdw>
            </a:effectLst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 kern="0">
                <a:solidFill>
                  <a:srgbClr val="BF0000"/>
                </a:solidFill>
                <a:latin typeface="Arial Narrow" panose="020B0606020202030204"/>
                <a:ea typeface="微软雅黑" panose="020B0503020204020204" charset="-122"/>
              </a:endParaRPr>
            </a:p>
          </p:txBody>
        </p:sp>
        <p:sp>
          <p:nvSpPr>
            <p:cNvPr id="1048786" name="文本框 91"/>
            <p:cNvSpPr txBox="1"/>
            <p:nvPr>
              <p:custDataLst>
                <p:tags r:id="rId32"/>
              </p:custDataLst>
            </p:nvPr>
          </p:nvSpPr>
          <p:spPr>
            <a:xfrm>
              <a:off x="4505325" y="3162300"/>
              <a:ext cx="3324225" cy="4095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 b="1" i="0">
                  <a:solidFill>
                    <a:srgbClr val="B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6.4万元增收来源（测算）</a:t>
              </a:r>
            </a:p>
          </p:txBody>
        </p:sp>
      </p:grpSp>
      <p:pic>
        <p:nvPicPr>
          <p:cNvPr id="2097303" name="图片 101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69"/>
          <a:stretch>
            <a:fillRect/>
          </a:stretch>
        </p:blipFill>
        <p:spPr>
          <a:xfrm>
            <a:off x="10009505" y="3095625"/>
            <a:ext cx="1505585" cy="2414905"/>
          </a:xfrm>
          <a:prstGeom prst="rect">
            <a:avLst/>
          </a:prstGeom>
          <a:effectLst>
            <a:outerShdw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97304" name="图片 102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70"/>
          <a:stretch>
            <a:fillRect/>
          </a:stretch>
        </p:blipFill>
        <p:spPr>
          <a:xfrm>
            <a:off x="8569960" y="3057525"/>
            <a:ext cx="1717040" cy="2414905"/>
          </a:xfrm>
          <a:prstGeom prst="rect">
            <a:avLst/>
          </a:prstGeom>
          <a:effectLst>
            <a:outerShdw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99" name="Group 92+"/>
          <p:cNvGrpSpPr/>
          <p:nvPr/>
        </p:nvGrpSpPr>
        <p:grpSpPr>
          <a:xfrm>
            <a:off x="8396258" y="3134595"/>
            <a:ext cx="3354621" cy="457855"/>
            <a:chOff x="4492250" y="3134595"/>
            <a:chExt cx="3354621" cy="457855"/>
          </a:xfrm>
        </p:grpSpPr>
        <p:sp>
          <p:nvSpPr>
            <p:cNvPr id="1048787" name="矩形: 圆角 94"/>
            <p:cNvSpPr/>
            <p:nvPr>
              <p:custDataLst>
                <p:tags r:id="rId29"/>
              </p:custDataLst>
            </p:nvPr>
          </p:nvSpPr>
          <p:spPr>
            <a:xfrm flipV="1">
              <a:off x="4519123" y="3134595"/>
              <a:ext cx="3300875" cy="424356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27432" cap="flat" cmpd="sng" algn="ctr">
              <a:solidFill>
                <a:srgbClr val="BF0000"/>
              </a:solidFill>
              <a:prstDash val="solid"/>
              <a:miter lim="800000"/>
            </a:ln>
            <a:effectLst>
              <a:outerShdw blurRad="54864" dist="41148" dir="5400000" algn="t" rotWithShape="0">
                <a:schemeClr val="accent2">
                  <a:alpha val="40000"/>
                </a:schemeClr>
              </a:outerShdw>
            </a:effectLst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 kern="0">
                <a:solidFill>
                  <a:schemeClr val="accent2"/>
                </a:solidFill>
                <a:latin typeface="Arial Narrow" panose="020B0606020202030204"/>
                <a:ea typeface="微软雅黑" panose="020B0503020204020204" charset="-122"/>
              </a:endParaRPr>
            </a:p>
          </p:txBody>
        </p:sp>
        <p:sp>
          <p:nvSpPr>
            <p:cNvPr id="1048788" name="文本框 1023"/>
            <p:cNvSpPr txBox="1"/>
            <p:nvPr>
              <p:custDataLst>
                <p:tags r:id="rId30"/>
              </p:custDataLst>
            </p:nvPr>
          </p:nvSpPr>
          <p:spPr>
            <a:xfrm>
              <a:off x="4506567" y="3162300"/>
              <a:ext cx="3324225" cy="4095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950" b="1" i="0">
                  <a:solidFill>
                    <a:srgbClr val="B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签订樱桃代销协议</a:t>
              </a:r>
              <a:endParaRPr lang="zh-CN" sz="1950"/>
            </a:p>
          </p:txBody>
        </p:sp>
      </p:grpSp>
      <p:sp>
        <p:nvSpPr>
          <p:cNvPr id="3145750" name="帮扶案例说明1"/>
          <p:cNvSpPr>
            <a:spLocks noGrp="1"/>
          </p:cNvSpPr>
          <p:nvPr/>
        </p:nvSpPr>
        <p:spPr>
          <a:xfrm>
            <a:off x="733425" y="2486025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测算对象：合作果农</a:t>
            </a:r>
          </a:p>
        </p:txBody>
      </p:sp>
      <p:sp>
        <p:nvSpPr>
          <p:cNvPr id="3145751" name="帮扶案例说明2"/>
          <p:cNvSpPr>
            <a:spLocks noGrp="1"/>
          </p:cNvSpPr>
          <p:nvPr/>
        </p:nvSpPr>
        <p:spPr>
          <a:xfrm>
            <a:off x="733425" y="2943225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绿色管护与果园管理</a:t>
            </a:r>
          </a:p>
        </p:txBody>
      </p:sp>
      <p:sp>
        <p:nvSpPr>
          <p:cNvPr id="3145752" name="帮扶案例说明3"/>
          <p:cNvSpPr>
            <a:spLocks noGrp="1"/>
          </p:cNvSpPr>
          <p:nvPr/>
        </p:nvSpPr>
        <p:spPr>
          <a:xfrm>
            <a:off x="733425" y="3390900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包装、活动与直播助销</a:t>
            </a:r>
          </a:p>
        </p:txBody>
      </p:sp>
      <p:sp>
        <p:nvSpPr>
          <p:cNvPr id="3145753" name="帮扶案例说明4"/>
          <p:cNvSpPr>
            <a:spLocks noGrp="1"/>
          </p:cNvSpPr>
          <p:nvPr/>
        </p:nvSpPr>
        <p:spPr>
          <a:xfrm>
            <a:off x="733425" y="3810000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签订樱桃代销协议</a:t>
            </a:r>
          </a:p>
        </p:txBody>
      </p:sp>
      <p:sp>
        <p:nvSpPr>
          <p:cNvPr id="3145754" name="帮扶案例说明5"/>
          <p:cNvSpPr>
            <a:spLocks noGrp="1"/>
          </p:cNvSpPr>
          <p:nvPr/>
        </p:nvSpPr>
        <p:spPr>
          <a:xfrm>
            <a:off x="733425" y="4257675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樱桃种植年销售收入</a:t>
            </a:r>
          </a:p>
        </p:txBody>
      </p:sp>
      <p:sp>
        <p:nvSpPr>
          <p:cNvPr id="3145755" name="帮扶案例说明6"/>
          <p:cNvSpPr>
            <a:spLocks noGrp="1"/>
          </p:cNvSpPr>
          <p:nvPr/>
        </p:nvSpPr>
        <p:spPr>
          <a:xfrm>
            <a:off x="733425" y="4676775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3万元增至9.4万元</a:t>
            </a:r>
          </a:p>
        </p:txBody>
      </p:sp>
      <p:sp>
        <p:nvSpPr>
          <p:cNvPr id="3145756" name="帮扶案例说明7"/>
          <p:cNvSpPr>
            <a:spLocks noGrp="1"/>
          </p:cNvSpPr>
          <p:nvPr/>
        </p:nvSpPr>
        <p:spPr>
          <a:xfrm>
            <a:off x="733425" y="5105400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增幅约213%</a:t>
            </a:r>
          </a:p>
        </p:txBody>
      </p:sp>
      <p:sp>
        <p:nvSpPr>
          <p:cNvPr id="3145757" name="帮扶案例说明8"/>
          <p:cNvSpPr>
            <a:spLocks noGrp="1"/>
          </p:cNvSpPr>
          <p:nvPr/>
        </p:nvSpPr>
        <p:spPr>
          <a:xfrm>
            <a:off x="733425" y="5562600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525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情景测算，非实测成效</a:t>
            </a:r>
          </a:p>
        </p:txBody>
      </p:sp>
      <p:graphicFrame>
        <p:nvGraphicFramePr>
          <p:cNvPr id="8002002" name="表格 8002001">
            <a:extLst>
              <a:ext uri="{FF2B5EF4-FFF2-40B4-BE49-F238E27FC236}">
                <a16:creationId xmlns:a16="http://schemas.microsoft.com/office/drawing/2014/main" id="{158D4A02-47C7-4741-A1D5-A3A59DADD608}"/>
              </a:ext>
            </a:extLst>
          </p:cNvPr>
          <p:cNvGraphicFramePr/>
          <p:nvPr/>
        </p:nvGraphicFramePr>
        <p:xfrm>
          <a:off x="4572000" y="3590925"/>
          <a:ext cx="3352800" cy="190500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C00000"/>
                          </a:solidFill>
                        </a:rPr>
                        <a:t>增产增收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02020"/>
                          </a:solidFill>
                        </a:rPr>
                        <a:t>1.47万元</a:t>
                      </a:r>
                    </a:p>
                    <a:p>
                      <a:pPr algn="ctr"/>
                      <a:r>
                        <a:rPr sz="1425" b="0">
                          <a:solidFill>
                            <a:srgbClr val="202020"/>
                          </a:solidFill>
                        </a:rPr>
                        <a:t>增加采收量，按原价计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C00000"/>
                          </a:solidFill>
                        </a:rPr>
                        <a:t>保鲜减损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02020"/>
                          </a:solidFill>
                        </a:rPr>
                        <a:t>2.24万元</a:t>
                      </a:r>
                    </a:p>
                    <a:p>
                      <a:pPr algn="ctr"/>
                      <a:r>
                        <a:rPr sz="1425" b="0">
                          <a:solidFill>
                            <a:srgbClr val="202020"/>
                          </a:solidFill>
                        </a:rPr>
                        <a:t>减少采后与流通损失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C00000"/>
                          </a:solidFill>
                        </a:rPr>
                        <a:t>分级提价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02020"/>
                          </a:solidFill>
                        </a:rPr>
                        <a:t>2.69万元</a:t>
                      </a:r>
                    </a:p>
                    <a:p>
                      <a:pPr algn="ctr"/>
                      <a:r>
                        <a:rPr sz="1425" b="0">
                          <a:solidFill>
                            <a:srgbClr val="202020"/>
                          </a:solidFill>
                        </a:rPr>
                        <a:t>均价18增至25.2元/斤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0019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C0000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C0000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自定义</PresentationFormat>
  <Paragraphs>73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Roboto Regular</vt:lpstr>
      <vt:lpstr>方正字迹-龙吟体 简</vt:lpstr>
      <vt:lpstr>微软雅黑</vt:lpstr>
      <vt:lpstr>Aptos</vt:lpstr>
      <vt:lpstr>Aptos Display</vt:lpstr>
      <vt:lpstr>Arial</vt:lpstr>
      <vt:lpstr>Arial Narrow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思萤+润森 陈</dc:creator>
  <cp:lastModifiedBy>思萤+润森 陈</cp:lastModifiedBy>
  <cp:revision>1</cp:revision>
  <dcterms:created xsi:type="dcterms:W3CDTF">2026-10-21T07:20:37Z</dcterms:created>
  <dcterms:modified xsi:type="dcterms:W3CDTF">2026-10-21T07:20:37Z</dcterms:modified>
</cp:coreProperties>
</file>